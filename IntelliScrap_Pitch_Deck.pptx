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724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not the tech. One sentence: InteliScrap AI helps people who collect scrap in Nigeria know what they are holding, how dangerous it is, and what it is worth, even with no internet. The background picture is an AI-generated illustration and is labelled that way. Then go straight to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short story: a collector picks up an old car battery. He does not know it holds lead and acid. He does not know it is worth more than the buyer will offer. And he does not know a house two streets away has more. Three gaps: safety, price, access. Then the last line: most apps assume data, English and a smartphone, so they do not reach him. Both pictures are photos and need a confirmed source and permission before the pitch. The top one is a press-style photo that may not be from Nigeria, so the caption names no place. Do not say where it was taken unless you can confirm it. Replace both with your own photos if you can. TODO: add one or two sourced statistics (for example the number of informal collectors in Nigeria, or injury data). Do not use a number you cannot cite.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in the order a collector lives them. Key point: the voice step removes the reading barrier, so the app works for people who cannot read English well. Hazard types covered include corrosive acid, lead poisoning and mercury exposure (15 hazard types in total). Live demo idea: scan one item on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app, not a mock-up. Walk left to right: snap, then know. Point at the Phone AI badge: it proves the answer came from the phone with no internet. Point at the confidence score and the Safe badge. The advice is written in Nigerian Pidgin and the button reads it aloud. Before any live demo or recording, fix the result screen: the lower part of the screen still shows raw text labels (confirm_listing, listing_confirm_desc, list_scrap) instead of translated words. They are cropped out of this slide. Also avoid screenshots that show a real phone number.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The app tries four routes in order and stops at the first one that works. If none can, it asks the collector to choose, and it never invents a result. For safety work, an honest "I am not sure" is worth more than a confident wrong answer. Every result carries a source label and a confidence score. Be ready to say how accurate the on-device model is once it is trained on local scrap photos.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doors into one system. Smartphone users get the full app. Feature-phone users, who are many among informal collectors, register with a USSD code and work through SMS and voice. We already have six preset hubs in Zaria on the USSD menu (Samaru, Sabon Gari, Kongo, Bomo, Hanwa, Dutsen Abba). Matching uses the same hexagon grid idea that ride-hailing apps use, so we do not scan every collector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quick. The point: every row is a real street constraint (no data, low literacy, basic phones) and we designed around each one. "Typical scrap app" means a standard marketplace or price-listing app. Before pitching, name one or two real competitors you checked, so the comparison is specific. Yoruba and Igbo voice are planned, not live. Do not claim them as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numbers come from the project README: 8 scrap classes (copper, aluminium, PET plastic, lead battery, brass, steel, e-waste, glass), 15 hazard types in the Hausa and Pidgin dictionaries, 62 backend tests, and 6 preset Zaria hubs on USSD. Be honest about stage: the full product loop is built, and the next step is to train the classifier on real scrap photos for field accuracy. Judges trust a team that names its next step. TODO: add a screenshot or short demo clip if there is room.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the people with the least money pay nothing, so adoption is easy. Money comes from the businesses that gain from a clean, traceable supply: hubs (monthly subscription, our main recurring B2B income), a small fee per completed pickup, and estates or offices that want guaranteed safe collection. Prices shown are planned and will be tested in the pilot. Later idea from the first draft, not on the slide: buying in bulk at hubs and selling to industrial plants for a 15 to 20 percent margin. It needs cash and storage, so it belongs after the pilot.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turns our collection data into a product. Extended Producer Responsibility (EPR) rules push manufacturers to show that their waste is collected and recycled. Our app already creates an auditable export of every settled collection: collector, material, weight, value and originating hub. The E-Bangle is a future wearable for deskless cleaning staff, and it needs a mobile connection to sync to the company dashboard. All prices are planned assumptions from the first draft (the $40 to $60 price was estimated to give about a 40 percent margin) and need pilot testing. Make clear that the E-Bangle is future work, not built.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you, why MTN, why now". Three links: money (MoMo), customers (smartphone and data users who start with a survival reason to go online) and network (USSD and SMS today, IoT SIMs later). Our USSD and SMS flow runs through Africa's Talking in the prototype, and in a pilot we would want to move it onto an MTN shortcode. The MoMo bonus is a planned idea, not built. Say so if asked.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each unlocking the next. Now: the product loop works end to end. Next: the pilot proves accuracy, adoption and willingness to pay, and this is where the PachiPanda support matters most. Later: the bigger revenue lines (compliance and the E-Bangle) once we have real collection data. The dates are target dates for now. Confirm them with the team before pitching.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[Name] with the builder's name and add a photo if you like. The team is three builders. In the project README the work is split across five roles, so here the roles are grouped: Edge AI is joined with QA and DevOps, and the frontend is joined with the voice and accessibility work. Say one line about why this team: you built the whole loop yourselves (app, AI, voice, backend, tests), and mention that the team is local to the users' region if that is true.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Fill in the funding amount and what it buys (for example: photo collection, model training, pilot costs for a set number of collectors and hubs). Ask for MTN help that only MTN can give: a USSD shortcode, SMS delivery and MoMo payouts. End on the closing line and stop talking. The funding amount, email and phone number on the slide are sample values. Replace them with the real ones before pitching.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25462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0F2A20"/>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2062212"/>
            <a:ext cx="10566474" cy="3982988"/>
          </a:xfrm>
          <a:prstGeom prst="rect">
            <a:avLst/>
          </a:prstGeom>
          <a:noFill/>
          <a:ln/>
        </p:spPr>
        <p:txBody>
          <a:bodyPr wrap="square" lIns="0" tIns="0" rIns="0" bIns="0" rtlCol="0" anchor="t"/>
          <a:lstStyle>
            <a:lvl1pPr marL="0" indent="0" algn="l">
              <a:lnSpc>
                <a:spcPct val="140000"/>
              </a:lnSpc>
              <a:buNone/>
              <a:defRPr lang="en-US" sz="1600" dirty="0">
                <a:solidFill>
                  <a:srgbClr val="0F2A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25462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0F2A20"/>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2062212"/>
            <a:ext cx="10566474" cy="3982988"/>
          </a:xfrm>
          <a:prstGeom prst="rect">
            <a:avLst/>
          </a:prstGeom>
          <a:noFill/>
          <a:ln/>
        </p:spPr>
        <p:txBody>
          <a:bodyPr wrap="square" lIns="0" tIns="0" rIns="0" bIns="0" rtlCol="0" anchor="t"/>
          <a:lstStyle>
            <a:lvl1pPr marL="0" indent="0" algn="l">
              <a:lnSpc>
                <a:spcPct val="140000"/>
              </a:lnSpc>
              <a:buNone/>
              <a:defRPr lang="en-US" sz="1600" dirty="0">
                <a:solidFill>
                  <a:srgbClr val="0F2A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0"/>
        </a:solidFill>
        <a:effectLst/>
      </p:bgPr>
    </p:bg>
    <p:spTree>
      <p:nvGrpSpPr>
        <p:cNvPr id="1" name=""/>
        <p:cNvGrpSpPr/>
        <p:nvPr/>
      </p:nvGrpSpPr>
      <p:grpSpPr>
        <a:xfrm>
          <a:off x="0" y="0"/>
          <a:ext cx="0" cy="0"/>
          <a:chOff x="0" y="0"/>
          <a:chExt cx="0" cy="0"/>
        </a:xfrm>
      </p:grpSpPr>
      <p:pic>
        <p:nvPicPr>
          <p:cNvPr id="2" name="Image 0" descr="A scrap collector sits beside a cart, a car battery, copper wire and circuit boards, sorting mixed scrap in the sun"/>
          <p:cNvPicPr>
            <a:picLocks noChangeAspect="1"/>
          </p:cNvPicPr>
          <p:nvPr/>
        </p:nvPicPr>
        <p:blipFill>
          <a:blip r:embed="rId3"/>
          <a:srcRect t="27" b="27"/>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F2A20">
                  <a:alpha val="97000"/>
                </a:srgbClr>
              </a:gs>
              <a:gs pos="55000">
                <a:srgbClr val="0F2A20">
                  <a:alpha val="88000"/>
                </a:srgbClr>
              </a:gs>
              <a:gs pos="100000">
                <a:srgbClr val="0F2A20">
                  <a:alpha val="15000"/>
                </a:srgbClr>
              </a:gs>
            </a:gsLst>
            <a:lin ang="0" scaled="0"/>
          </a:gradFill>
          <a:ln/>
        </p:spPr>
      </p:sp>
      <p:sp>
        <p:nvSpPr>
          <p:cNvPr id="4" name="Text 1"/>
          <p:cNvSpPr/>
          <p:nvPr/>
        </p:nvSpPr>
        <p:spPr>
          <a:xfrm>
            <a:off x="812726" y="1924224"/>
            <a:ext cx="680212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72C"/>
                </a:solidFill>
                <a:latin typeface="DM Sans" pitchFamily="34" charset="0"/>
                <a:ea typeface="DM Sans" pitchFamily="34" charset="-122"/>
                <a:cs typeface="DM Sans" pitchFamily="34" charset="-120"/>
              </a:rPr>
              <a:t>MTN PACHIPANDA CHALLENGE 2026</a:t>
            </a:r>
            <a:endParaRPr lang="en-US" sz="1200" dirty="0"/>
          </a:p>
        </p:txBody>
      </p:sp>
      <p:sp>
        <p:nvSpPr>
          <p:cNvPr id="5" name="Text 2"/>
          <p:cNvSpPr>
            <a:spLocks noGrp="1"/>
          </p:cNvSpPr>
          <p:nvPr>
            <p:ph type="title"/>
          </p:nvPr>
        </p:nvSpPr>
        <p:spPr>
          <a:xfrm>
            <a:off x="812726" y="2340694"/>
            <a:ext cx="6802120" cy="825475"/>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EE"/>
                </a:solidFill>
                <a:latin typeface="DM Sans" pitchFamily="34" charset="0"/>
                <a:ea typeface="DM Sans" pitchFamily="34" charset="-122"/>
                <a:cs typeface="DM Sans" pitchFamily="34" charset="-120"/>
              </a:rPr>
              <a:t>InteliScrap AI</a:t>
            </a:r>
            <a:endParaRPr lang="en-US" sz="6000" dirty="0"/>
          </a:p>
        </p:txBody>
      </p:sp>
      <p:sp>
        <p:nvSpPr>
          <p:cNvPr id="6" name="Text 3"/>
          <p:cNvSpPr/>
          <p:nvPr/>
        </p:nvSpPr>
        <p:spPr>
          <a:xfrm>
            <a:off x="812726" y="3343920"/>
            <a:ext cx="6802120" cy="843211"/>
          </a:xfrm>
          <a:prstGeom prst="rect">
            <a:avLst/>
          </a:prstGeom>
          <a:noFill/>
          <a:ln/>
        </p:spPr>
        <p:txBody>
          <a:bodyPr wrap="square" lIns="0" tIns="0" rIns="0" bIns="0" rtlCol="0" anchor="t">
            <a:normAutofit/>
          </a:bodyPr>
          <a:lstStyle/>
          <a:p>
            <a:pPr marL="0" indent="0" algn="l">
              <a:lnSpc>
                <a:spcPts val="3220"/>
              </a:lnSpc>
              <a:buNone/>
            </a:pPr>
            <a:r>
              <a:rPr lang="en-US" sz="2800" dirty="0">
                <a:solidFill>
                  <a:srgbClr val="FFC72C"/>
                </a:solidFill>
                <a:latin typeface="DM Sans" pitchFamily="34" charset="0"/>
                <a:ea typeface="DM Sans" pitchFamily="34" charset="-122"/>
                <a:cs typeface="DM Sans" pitchFamily="34" charset="-120"/>
              </a:rPr>
              <a:t>Know what it is. Know what it's worth. Stay safe.</a:t>
            </a:r>
            <a:endParaRPr lang="en-US" sz="2800" dirty="0"/>
          </a:p>
        </p:txBody>
      </p:sp>
      <p:sp>
        <p:nvSpPr>
          <p:cNvPr id="7" name="Text 4"/>
          <p:cNvSpPr/>
          <p:nvPr/>
        </p:nvSpPr>
        <p:spPr>
          <a:xfrm>
            <a:off x="812726" y="4364881"/>
            <a:ext cx="6802120"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5E3DB"/>
                </a:solidFill>
                <a:latin typeface="DM Sans" pitchFamily="34" charset="0"/>
                <a:ea typeface="DM Sans" pitchFamily="34" charset="-122"/>
                <a:cs typeface="DM Sans" pitchFamily="34" charset="-120"/>
              </a:rPr>
              <a:t>An offline, voice-guided safety and pricing assistant for Nigeria's scrap collectors.</a:t>
            </a:r>
            <a:endParaRPr lang="en-US" sz="1600" dirty="0"/>
          </a:p>
        </p:txBody>
      </p:sp>
      <p:sp>
        <p:nvSpPr>
          <p:cNvPr id="8" name="Text 5"/>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CC2"/>
                </a:solidFill>
                <a:latin typeface="DM Sans" pitchFamily="34" charset="0"/>
                <a:ea typeface="DM Sans" pitchFamily="34" charset="-122"/>
                <a:cs typeface="DM Sans" pitchFamily="34" charset="-120"/>
              </a:rPr>
              <a:t>Built by Team-Nexus </a:t>
            </a:r>
            <a:endParaRPr lang="en-US" sz="1200" dirty="0"/>
          </a:p>
        </p:txBody>
      </p:sp>
      <p:sp>
        <p:nvSpPr>
          <p:cNvPr id="9" name="Text 6"/>
          <p:cNvSpPr/>
          <p:nvPr/>
        </p:nvSpPr>
        <p:spPr>
          <a:xfrm>
            <a:off x="10172774" y="6162229"/>
            <a:ext cx="1206500" cy="289471"/>
          </a:xfrm>
          <a:custGeom>
            <a:avLst/>
            <a:gdLst/>
            <a:ahLst/>
            <a:cxnLst/>
            <a:rect l="l" t="t" r="r" b="b"/>
            <a:pathLst>
              <a:path w="1206500" h="289471">
                <a:moveTo>
                  <a:pt x="144735" y="0"/>
                </a:moveTo>
                <a:lnTo>
                  <a:pt x="1061765" y="0"/>
                </a:lnTo>
                <a:arcTo wR="144735" hR="144735" stAng="16200000" swAng="5400000"/>
                <a:lnTo>
                  <a:pt x="1206500" y="144735"/>
                </a:lnTo>
                <a:arcTo wR="144735" hR="144735" stAng="0" swAng="5400000"/>
                <a:lnTo>
                  <a:pt x="144735" y="289471"/>
                </a:lnTo>
                <a:arcTo wR="144735" hR="144735" stAng="5400000" swAng="5400000"/>
                <a:lnTo>
                  <a:pt x="0" y="144735"/>
                </a:lnTo>
                <a:arcTo wR="144735" hR="144735" stAng="10800000" swAng="5400000"/>
                <a:close/>
              </a:path>
            </a:pathLst>
          </a:custGeom>
          <a:solidFill>
            <a:srgbClr val="0F2A20">
              <a:alpha val="75000"/>
            </a:srgbClr>
          </a:solidFill>
          <a:ln/>
        </p:spPr>
        <p:txBody>
          <a:bodyPr wrap="square" lIns="0" tIns="38100" rIns="0" bIns="12700" rtlCol="0" anchor="t">
            <a:normAutofit/>
          </a:bodyPr>
          <a:lstStyle/>
          <a:p>
            <a:pPr marL="0" indent="0" algn="ctr">
              <a:lnSpc>
                <a:spcPts val="1680"/>
              </a:lnSpc>
              <a:buNone/>
            </a:pPr>
            <a:r>
              <a:rPr lang="en-US" sz="1200" dirty="0">
                <a:solidFill>
                  <a:srgbClr val="D5E3DB"/>
                </a:solidFill>
                <a:latin typeface="DM Sans" pitchFamily="34" charset="0"/>
                <a:ea typeface="DM Sans" pitchFamily="34" charset="-122"/>
                <a:cs typeface="DM Sans" pitchFamily="34" charset="-120"/>
              </a:rPr>
              <a:t>Illustration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a:effectLst/>
      </p:bgPr>
    </p:bg>
    <p:spTree>
      <p:nvGrpSpPr>
        <p:cNvPr id="1" name=""/>
        <p:cNvGrpSpPr/>
        <p:nvPr/>
      </p:nvGrpSpPr>
      <p:grpSpPr>
        <a:xfrm>
          <a:off x="0" y="0"/>
          <a:ext cx="0" cy="0"/>
          <a:chOff x="0" y="0"/>
          <a:chExt cx="0" cy="0"/>
        </a:xfrm>
      </p:grpSpPr>
      <p:pic>
        <p:nvPicPr>
          <p:cNvPr id="2" name="Image 0" descr="A young man crouches among piles of discarded electronics and sorts wires and circuit parts by hand"/>
          <p:cNvPicPr>
            <a:picLocks noChangeAspect="1"/>
          </p:cNvPicPr>
          <p:nvPr/>
        </p:nvPicPr>
        <p:blipFill>
          <a:blip r:embed="rId3"/>
          <a:srcRect t="3320" b="3320"/>
          <a:stretch/>
        </p:blipFill>
        <p:spPr>
          <a:xfrm>
            <a:off x="812726" y="812726"/>
            <a:ext cx="4064000" cy="2286000"/>
          </a:xfrm>
          <a:prstGeom prst="roundRect">
            <a:avLst>
              <a:gd name="adj" fmla="val 5556"/>
            </a:avLst>
          </a:prstGeom>
        </p:spPr>
      </p:pic>
      <p:sp>
        <p:nvSpPr>
          <p:cNvPr id="3" name="Text 0"/>
          <p:cNvSpPr/>
          <p:nvPr/>
        </p:nvSpPr>
        <p:spPr>
          <a:xfrm>
            <a:off x="812726" y="3174876"/>
            <a:ext cx="4185920" cy="22346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C6862"/>
                </a:solidFill>
                <a:latin typeface="DM Sans" pitchFamily="34" charset="0"/>
                <a:ea typeface="DM Sans" pitchFamily="34" charset="-122"/>
                <a:cs typeface="DM Sans" pitchFamily="34" charset="-120"/>
              </a:rPr>
              <a:t>Photo: sorting electronic waste by hand</a:t>
            </a:r>
            <a:endParaRPr lang="en-US" sz="1200" dirty="0"/>
          </a:p>
        </p:txBody>
      </p:sp>
      <p:pic>
        <p:nvPicPr>
          <p:cNvPr id="4" name="Image 1" descr="A man bends over a roadside pile of waste beside a painted wall, searching for scrap"/>
          <p:cNvPicPr>
            <a:picLocks noChangeAspect="1"/>
          </p:cNvPicPr>
          <p:nvPr/>
        </p:nvPicPr>
        <p:blipFill>
          <a:blip r:embed="rId4"/>
          <a:srcRect t="17500" b="45000"/>
          <a:stretch/>
        </p:blipFill>
        <p:spPr>
          <a:xfrm>
            <a:off x="812726" y="3449092"/>
            <a:ext cx="4064000" cy="2032000"/>
          </a:xfrm>
          <a:prstGeom prst="roundRect">
            <a:avLst>
              <a:gd name="adj" fmla="val 6250"/>
            </a:avLst>
          </a:prstGeom>
        </p:spPr>
      </p:pic>
      <p:sp>
        <p:nvSpPr>
          <p:cNvPr id="5" name="Text 1"/>
          <p:cNvSpPr/>
          <p:nvPr/>
        </p:nvSpPr>
        <p:spPr>
          <a:xfrm>
            <a:off x="812726" y="5557242"/>
            <a:ext cx="4185920" cy="22346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C6862"/>
                </a:solidFill>
                <a:latin typeface="DM Sans" pitchFamily="34" charset="0"/>
                <a:ea typeface="DM Sans" pitchFamily="34" charset="-122"/>
                <a:cs typeface="DM Sans" pitchFamily="34" charset="-120"/>
              </a:rPr>
              <a:t>Photo: a collector searching roadside waste</a:t>
            </a:r>
            <a:endParaRPr lang="en-US" sz="1200" dirty="0"/>
          </a:p>
        </p:txBody>
      </p:sp>
      <p:sp>
        <p:nvSpPr>
          <p:cNvPr id="6" name="Text 2"/>
          <p:cNvSpPr/>
          <p:nvPr/>
        </p:nvSpPr>
        <p:spPr>
          <a:xfrm>
            <a:off x="5181451" y="812726"/>
            <a:ext cx="638375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01 · THE PROBLEM</a:t>
            </a:r>
            <a:endParaRPr lang="en-US" sz="1200" dirty="0"/>
          </a:p>
        </p:txBody>
      </p:sp>
      <p:sp>
        <p:nvSpPr>
          <p:cNvPr id="7" name="Text 3"/>
          <p:cNvSpPr>
            <a:spLocks noGrp="1"/>
          </p:cNvSpPr>
          <p:nvPr>
            <p:ph type="title"/>
          </p:nvPr>
        </p:nvSpPr>
        <p:spPr>
          <a:xfrm>
            <a:off x="5181451" y="1127621"/>
            <a:ext cx="6383758"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Collectors work blind</a:t>
            </a:r>
            <a:endParaRPr lang="en-US" sz="3600" dirty="0"/>
          </a:p>
        </p:txBody>
      </p:sp>
      <p:sp>
        <p:nvSpPr>
          <p:cNvPr id="8" name="Shape 4"/>
          <p:cNvSpPr/>
          <p:nvPr/>
        </p:nvSpPr>
        <p:spPr>
          <a:xfrm>
            <a:off x="5184626" y="1735162"/>
            <a:ext cx="6191473" cy="1022796"/>
          </a:xfrm>
          <a:prstGeom prst="roundRect">
            <a:avLst>
              <a:gd name="adj" fmla="val 12107"/>
            </a:avLst>
          </a:prstGeom>
          <a:solidFill>
            <a:srgbClr val="FFFDF7"/>
          </a:solidFill>
          <a:ln w="6350">
            <a:solidFill>
              <a:srgbClr val="E4E0D2"/>
            </a:solidFill>
            <a:prstDash val="solid"/>
          </a:ln>
        </p:spPr>
      </p:sp>
      <p:pic>
        <p:nvPicPr>
          <p:cNvPr id="9" name="Image 2" descr="Warning"/>
          <p:cNvPicPr>
            <a:picLocks noChangeAspect="1"/>
          </p:cNvPicPr>
          <p:nvPr/>
        </p:nvPicPr>
        <p:blipFill>
          <a:blip r:embed="rId5"/>
          <a:srcRect/>
          <a:stretch/>
        </p:blipFill>
        <p:spPr>
          <a:xfrm>
            <a:off x="5367114" y="1841500"/>
            <a:ext cx="304726" cy="304726"/>
          </a:xfrm>
          <a:prstGeom prst="rect">
            <a:avLst/>
          </a:prstGeom>
        </p:spPr>
      </p:pic>
      <p:sp>
        <p:nvSpPr>
          <p:cNvPr id="10" name="Text 5"/>
          <p:cNvSpPr/>
          <p:nvPr/>
        </p:nvSpPr>
        <p:spPr>
          <a:xfrm>
            <a:off x="5824141" y="1841500"/>
            <a:ext cx="5530555"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Hidden danger</a:t>
            </a:r>
            <a:endParaRPr lang="en-US" sz="1800" dirty="0"/>
          </a:p>
        </p:txBody>
      </p:sp>
      <p:sp>
        <p:nvSpPr>
          <p:cNvPr id="11" name="Text 6"/>
          <p:cNvSpPr/>
          <p:nvPr/>
        </p:nvSpPr>
        <p:spPr>
          <a:xfrm>
            <a:off x="5824141" y="2153791"/>
            <a:ext cx="5530555"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Batteries and e-waste can hold lead, acid and mercury. Many collectors learn the risk too late.</a:t>
            </a:r>
            <a:endParaRPr lang="en-US" sz="1400" dirty="0"/>
          </a:p>
        </p:txBody>
      </p:sp>
      <p:sp>
        <p:nvSpPr>
          <p:cNvPr id="12" name="Shape 7"/>
          <p:cNvSpPr/>
          <p:nvPr/>
        </p:nvSpPr>
        <p:spPr>
          <a:xfrm>
            <a:off x="5184626" y="2865884"/>
            <a:ext cx="6191473" cy="1022796"/>
          </a:xfrm>
          <a:prstGeom prst="roundRect">
            <a:avLst>
              <a:gd name="adj" fmla="val 12107"/>
            </a:avLst>
          </a:prstGeom>
          <a:solidFill>
            <a:srgbClr val="FFFDF7"/>
          </a:solidFill>
          <a:ln w="6350">
            <a:solidFill>
              <a:srgbClr val="E4E0D2"/>
            </a:solidFill>
            <a:prstDash val="solid"/>
          </a:ln>
        </p:spPr>
      </p:sp>
      <p:pic>
        <p:nvPicPr>
          <p:cNvPr id="13" name="Image 3" descr="Chart"/>
          <p:cNvPicPr>
            <a:picLocks noChangeAspect="1"/>
          </p:cNvPicPr>
          <p:nvPr/>
        </p:nvPicPr>
        <p:blipFill>
          <a:blip r:embed="rId6"/>
          <a:srcRect/>
          <a:stretch/>
        </p:blipFill>
        <p:spPr>
          <a:xfrm>
            <a:off x="5367114" y="2972222"/>
            <a:ext cx="304726" cy="304726"/>
          </a:xfrm>
          <a:prstGeom prst="rect">
            <a:avLst/>
          </a:prstGeom>
        </p:spPr>
      </p:pic>
      <p:sp>
        <p:nvSpPr>
          <p:cNvPr id="14" name="Text 8"/>
          <p:cNvSpPr/>
          <p:nvPr/>
        </p:nvSpPr>
        <p:spPr>
          <a:xfrm>
            <a:off x="5824141" y="2972222"/>
            <a:ext cx="5530555"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Unfair prices</a:t>
            </a:r>
            <a:endParaRPr lang="en-US" sz="1800" dirty="0"/>
          </a:p>
        </p:txBody>
      </p:sp>
      <p:sp>
        <p:nvSpPr>
          <p:cNvPr id="15" name="Text 9"/>
          <p:cNvSpPr/>
          <p:nvPr/>
        </p:nvSpPr>
        <p:spPr>
          <a:xfrm>
            <a:off x="5824141" y="3284513"/>
            <a:ext cx="5530555"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There is no public price list. Buyers set the price and collectors cannot check it.</a:t>
            </a:r>
            <a:endParaRPr lang="en-US" sz="1400" dirty="0"/>
          </a:p>
        </p:txBody>
      </p:sp>
      <p:sp>
        <p:nvSpPr>
          <p:cNvPr id="16" name="Shape 10"/>
          <p:cNvSpPr/>
          <p:nvPr/>
        </p:nvSpPr>
        <p:spPr>
          <a:xfrm>
            <a:off x="5184626" y="3996606"/>
            <a:ext cx="6191473" cy="1022796"/>
          </a:xfrm>
          <a:prstGeom prst="roundRect">
            <a:avLst>
              <a:gd name="adj" fmla="val 12107"/>
            </a:avLst>
          </a:prstGeom>
          <a:solidFill>
            <a:srgbClr val="FFFDF7"/>
          </a:solidFill>
          <a:ln w="6350">
            <a:solidFill>
              <a:srgbClr val="E4E0D2"/>
            </a:solidFill>
            <a:prstDash val="solid"/>
          </a:ln>
        </p:spPr>
      </p:sp>
      <p:pic>
        <p:nvPicPr>
          <p:cNvPr id="17" name="Image 4" descr="Clock"/>
          <p:cNvPicPr>
            <a:picLocks noChangeAspect="1"/>
          </p:cNvPicPr>
          <p:nvPr/>
        </p:nvPicPr>
        <p:blipFill>
          <a:blip r:embed="rId7"/>
          <a:srcRect/>
          <a:stretch/>
        </p:blipFill>
        <p:spPr>
          <a:xfrm>
            <a:off x="5367114" y="4102943"/>
            <a:ext cx="304726" cy="304726"/>
          </a:xfrm>
          <a:prstGeom prst="rect">
            <a:avLst/>
          </a:prstGeom>
        </p:spPr>
      </p:pic>
      <p:sp>
        <p:nvSpPr>
          <p:cNvPr id="18" name="Text 11"/>
          <p:cNvSpPr/>
          <p:nvPr/>
        </p:nvSpPr>
        <p:spPr>
          <a:xfrm>
            <a:off x="5824141" y="4102943"/>
            <a:ext cx="5530555"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Wasted effort</a:t>
            </a:r>
            <a:endParaRPr lang="en-US" sz="1800" dirty="0"/>
          </a:p>
        </p:txBody>
      </p:sp>
      <p:sp>
        <p:nvSpPr>
          <p:cNvPr id="19" name="Text 12"/>
          <p:cNvSpPr/>
          <p:nvPr/>
        </p:nvSpPr>
        <p:spPr>
          <a:xfrm>
            <a:off x="5824141" y="4415234"/>
            <a:ext cx="5530555"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Scrap sits in nearby homes and offices, unseen. Collectors walk far and much is dumped.</a:t>
            </a:r>
            <a:endParaRPr lang="en-US" sz="1400" dirty="0"/>
          </a:p>
        </p:txBody>
      </p:sp>
      <p:sp>
        <p:nvSpPr>
          <p:cNvPr id="20" name="Text 13"/>
          <p:cNvSpPr/>
          <p:nvPr/>
        </p:nvSpPr>
        <p:spPr>
          <a:xfrm>
            <a:off x="5181451" y="5124152"/>
            <a:ext cx="6197823" cy="492497"/>
          </a:xfrm>
          <a:prstGeom prst="roundRect">
            <a:avLst>
              <a:gd name="adj" fmla="val 20630"/>
            </a:avLst>
          </a:prstGeom>
          <a:solidFill>
            <a:srgbClr val="FFC72C"/>
          </a:solidFill>
          <a:ln/>
        </p:spPr>
        <p:txBody>
          <a:bodyPr wrap="square" lIns="173442" tIns="84542" rIns="0" bIns="59142" rtlCol="0" anchor="t">
            <a:normAutofit/>
          </a:bodyPr>
          <a:lstStyle/>
          <a:p>
            <a:pPr marL="0" indent="0" algn="l">
              <a:lnSpc>
                <a:spcPts val="2080"/>
              </a:lnSpc>
              <a:buNone/>
            </a:pPr>
            <a:r>
              <a:rPr lang="en-US" sz="1600" b="1" dirty="0">
                <a:solidFill>
                  <a:srgbClr val="0F2A20"/>
                </a:solidFill>
                <a:latin typeface="DM Sans" pitchFamily="34" charset="0"/>
                <a:ea typeface="DM Sans" pitchFamily="34" charset="-122"/>
                <a:cs typeface="DM Sans" pitchFamily="34" charset="-120"/>
              </a:rPr>
              <a:t>Most apps also need data, English and a smartphone.</a:t>
            </a:r>
            <a:endParaRPr lang="en-US" sz="1600" dirty="0"/>
          </a:p>
        </p:txBody>
      </p:sp>
      <p:sp>
        <p:nvSpPr>
          <p:cNvPr id="21" name="Text 14"/>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22" name="Text 15"/>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02 · OUR SOLUTION</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Snap a photo. Get the answer.</a:t>
            </a:r>
            <a:endParaRPr lang="en-US" sz="3600" dirty="0"/>
          </a:p>
        </p:txBody>
      </p:sp>
      <p:sp>
        <p:nvSpPr>
          <p:cNvPr id="4" name="Shape 2"/>
          <p:cNvSpPr/>
          <p:nvPr/>
        </p:nvSpPr>
        <p:spPr>
          <a:xfrm>
            <a:off x="815901" y="2040012"/>
            <a:ext cx="2482924" cy="2549153"/>
          </a:xfrm>
          <a:prstGeom prst="roundRect">
            <a:avLst>
              <a:gd name="adj" fmla="val 4987"/>
            </a:avLst>
          </a:prstGeom>
          <a:solidFill>
            <a:srgbClr val="FFFDF7"/>
          </a:solidFill>
          <a:ln w="6350">
            <a:solidFill>
              <a:srgbClr val="E4E0D2"/>
            </a:solidFill>
            <a:prstDash val="solid"/>
          </a:ln>
        </p:spPr>
      </p:sp>
      <p:sp>
        <p:nvSpPr>
          <p:cNvPr id="5" name="Text 3"/>
          <p:cNvSpPr/>
          <p:nvPr/>
        </p:nvSpPr>
        <p:spPr>
          <a:xfrm>
            <a:off x="1074663" y="2298774"/>
            <a:ext cx="2024361"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794A"/>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074663" y="2857500"/>
            <a:ext cx="202436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Snap</a:t>
            </a:r>
            <a:endParaRPr lang="en-US" sz="2000" dirty="0"/>
          </a:p>
        </p:txBody>
      </p:sp>
      <p:sp>
        <p:nvSpPr>
          <p:cNvPr id="7" name="Text 5"/>
          <p:cNvSpPr/>
          <p:nvPr/>
        </p:nvSpPr>
        <p:spPr>
          <a:xfrm>
            <a:off x="1074663" y="3263801"/>
            <a:ext cx="2024361"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Take a photo with a basic Android phone. No sign-in needed to start.</a:t>
            </a:r>
            <a:endParaRPr lang="en-US" sz="1500" dirty="0"/>
          </a:p>
        </p:txBody>
      </p:sp>
      <p:sp>
        <p:nvSpPr>
          <p:cNvPr id="8" name="Shape 6"/>
          <p:cNvSpPr/>
          <p:nvPr/>
        </p:nvSpPr>
        <p:spPr>
          <a:xfrm>
            <a:off x="3508325" y="2040012"/>
            <a:ext cx="2482924" cy="2549153"/>
          </a:xfrm>
          <a:prstGeom prst="roundRect">
            <a:avLst>
              <a:gd name="adj" fmla="val 4987"/>
            </a:avLst>
          </a:prstGeom>
          <a:solidFill>
            <a:srgbClr val="FFFDF7"/>
          </a:solidFill>
          <a:ln w="6350">
            <a:solidFill>
              <a:srgbClr val="E4E0D2"/>
            </a:solidFill>
            <a:prstDash val="solid"/>
          </a:ln>
        </p:spPr>
      </p:sp>
      <p:sp>
        <p:nvSpPr>
          <p:cNvPr id="9" name="Text 7"/>
          <p:cNvSpPr/>
          <p:nvPr/>
        </p:nvSpPr>
        <p:spPr>
          <a:xfrm>
            <a:off x="3767088" y="2298774"/>
            <a:ext cx="2024361"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794A"/>
                </a:solidFill>
                <a:latin typeface="DM Sans" pitchFamily="34" charset="0"/>
                <a:ea typeface="DM Sans" pitchFamily="34" charset="-122"/>
                <a:cs typeface="DM Sans" pitchFamily="34" charset="-120"/>
              </a:rPr>
              <a:t>2</a:t>
            </a:r>
            <a:endParaRPr lang="en-US" sz="3600" dirty="0"/>
          </a:p>
        </p:txBody>
      </p:sp>
      <p:sp>
        <p:nvSpPr>
          <p:cNvPr id="10" name="Text 8"/>
          <p:cNvSpPr/>
          <p:nvPr/>
        </p:nvSpPr>
        <p:spPr>
          <a:xfrm>
            <a:off x="3767088" y="2857500"/>
            <a:ext cx="202436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Identify</a:t>
            </a:r>
            <a:endParaRPr lang="en-US" sz="2000" dirty="0"/>
          </a:p>
        </p:txBody>
      </p:sp>
      <p:sp>
        <p:nvSpPr>
          <p:cNvPr id="11" name="Text 9"/>
          <p:cNvSpPr/>
          <p:nvPr/>
        </p:nvSpPr>
        <p:spPr>
          <a:xfrm>
            <a:off x="3767088" y="3263801"/>
            <a:ext cx="2024361"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AI on the phone names the material, even with no internet.</a:t>
            </a:r>
            <a:endParaRPr lang="en-US" sz="1500" dirty="0"/>
          </a:p>
        </p:txBody>
      </p:sp>
      <p:sp>
        <p:nvSpPr>
          <p:cNvPr id="12" name="Shape 10"/>
          <p:cNvSpPr/>
          <p:nvPr/>
        </p:nvSpPr>
        <p:spPr>
          <a:xfrm>
            <a:off x="6200750" y="2040012"/>
            <a:ext cx="2482924" cy="2549153"/>
          </a:xfrm>
          <a:prstGeom prst="roundRect">
            <a:avLst>
              <a:gd name="adj" fmla="val 4987"/>
            </a:avLst>
          </a:prstGeom>
          <a:solidFill>
            <a:srgbClr val="FFFDF7"/>
          </a:solidFill>
          <a:ln w="6350">
            <a:solidFill>
              <a:srgbClr val="E4E0D2"/>
            </a:solidFill>
            <a:prstDash val="solid"/>
          </a:ln>
        </p:spPr>
      </p:sp>
      <p:sp>
        <p:nvSpPr>
          <p:cNvPr id="13" name="Text 11"/>
          <p:cNvSpPr/>
          <p:nvPr/>
        </p:nvSpPr>
        <p:spPr>
          <a:xfrm>
            <a:off x="6459513" y="2298774"/>
            <a:ext cx="2024361"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794A"/>
                </a:solidFill>
                <a:latin typeface="DM Sans" pitchFamily="34" charset="0"/>
                <a:ea typeface="DM Sans" pitchFamily="34" charset="-122"/>
                <a:cs typeface="DM Sans" pitchFamily="34" charset="-120"/>
              </a:rPr>
              <a:t>3</a:t>
            </a:r>
            <a:endParaRPr lang="en-US" sz="3600" dirty="0"/>
          </a:p>
        </p:txBody>
      </p:sp>
      <p:sp>
        <p:nvSpPr>
          <p:cNvPr id="14" name="Text 12"/>
          <p:cNvSpPr/>
          <p:nvPr/>
        </p:nvSpPr>
        <p:spPr>
          <a:xfrm>
            <a:off x="6459513" y="2857500"/>
            <a:ext cx="202436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Know</a:t>
            </a:r>
            <a:endParaRPr lang="en-US" sz="2000" dirty="0"/>
          </a:p>
        </p:txBody>
      </p:sp>
      <p:sp>
        <p:nvSpPr>
          <p:cNvPr id="15" name="Text 13"/>
          <p:cNvSpPr/>
          <p:nvPr/>
        </p:nvSpPr>
        <p:spPr>
          <a:xfrm>
            <a:off x="6459513" y="3263801"/>
            <a:ext cx="2024361"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See the hazards and a fair price per kilo in Naira.</a:t>
            </a:r>
            <a:endParaRPr lang="en-US" sz="1500" dirty="0"/>
          </a:p>
        </p:txBody>
      </p:sp>
      <p:sp>
        <p:nvSpPr>
          <p:cNvPr id="16" name="Shape 14"/>
          <p:cNvSpPr/>
          <p:nvPr/>
        </p:nvSpPr>
        <p:spPr>
          <a:xfrm>
            <a:off x="8893175" y="2040012"/>
            <a:ext cx="2482924" cy="2549153"/>
          </a:xfrm>
          <a:prstGeom prst="roundRect">
            <a:avLst>
              <a:gd name="adj" fmla="val 4987"/>
            </a:avLst>
          </a:prstGeom>
          <a:solidFill>
            <a:srgbClr val="FFFDF7"/>
          </a:solidFill>
          <a:ln w="6350">
            <a:solidFill>
              <a:srgbClr val="E4E0D2"/>
            </a:solidFill>
            <a:prstDash val="solid"/>
          </a:ln>
        </p:spPr>
      </p:sp>
      <p:sp>
        <p:nvSpPr>
          <p:cNvPr id="17" name="Text 15"/>
          <p:cNvSpPr/>
          <p:nvPr/>
        </p:nvSpPr>
        <p:spPr>
          <a:xfrm>
            <a:off x="9151938" y="2298774"/>
            <a:ext cx="2024361"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794A"/>
                </a:solidFill>
                <a:latin typeface="DM Sans" pitchFamily="34" charset="0"/>
                <a:ea typeface="DM Sans" pitchFamily="34" charset="-122"/>
                <a:cs typeface="DM Sans" pitchFamily="34" charset="-120"/>
              </a:rPr>
              <a:t>4</a:t>
            </a:r>
            <a:endParaRPr lang="en-US" sz="3600" dirty="0"/>
          </a:p>
        </p:txBody>
      </p:sp>
      <p:sp>
        <p:nvSpPr>
          <p:cNvPr id="18" name="Text 16"/>
          <p:cNvSpPr/>
          <p:nvPr/>
        </p:nvSpPr>
        <p:spPr>
          <a:xfrm>
            <a:off x="9151938" y="2857500"/>
            <a:ext cx="202436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Hear</a:t>
            </a:r>
            <a:endParaRPr lang="en-US" sz="2000" dirty="0"/>
          </a:p>
        </p:txBody>
      </p:sp>
      <p:sp>
        <p:nvSpPr>
          <p:cNvPr id="19" name="Text 17"/>
          <p:cNvSpPr/>
          <p:nvPr/>
        </p:nvSpPr>
        <p:spPr>
          <a:xfrm>
            <a:off x="9151938" y="3263801"/>
            <a:ext cx="2024361"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The phone reads the safety advice aloud in Hausa or Nigerian Pidgin.</a:t>
            </a:r>
            <a:endParaRPr lang="en-US" sz="1500" dirty="0"/>
          </a:p>
        </p:txBody>
      </p:sp>
      <p:sp>
        <p:nvSpPr>
          <p:cNvPr id="20" name="Text 18"/>
          <p:cNvSpPr/>
          <p:nvPr/>
        </p:nvSpPr>
        <p:spPr>
          <a:xfrm>
            <a:off x="812726" y="4846340"/>
            <a:ext cx="10566549" cy="619497"/>
          </a:xfrm>
          <a:prstGeom prst="roundRect">
            <a:avLst>
              <a:gd name="adj" fmla="val 16400"/>
            </a:avLst>
          </a:prstGeom>
          <a:solidFill>
            <a:srgbClr val="0F2A20"/>
          </a:solidFill>
          <a:ln/>
        </p:spPr>
        <p:txBody>
          <a:bodyPr wrap="square" lIns="224242" tIns="148042" rIns="0" bIns="122642" rtlCol="0" anchor="t">
            <a:normAutofit/>
          </a:bodyPr>
          <a:lstStyle/>
          <a:p>
            <a:pPr marL="0" indent="0" algn="l">
              <a:lnSpc>
                <a:spcPts val="2080"/>
              </a:lnSpc>
              <a:buNone/>
            </a:pPr>
            <a:r>
              <a:rPr lang="en-US" sz="1600" b="1" dirty="0">
                <a:solidFill>
                  <a:srgbClr val="F7F5EE"/>
                </a:solidFill>
                <a:latin typeface="DM Sans" pitchFamily="34" charset="0"/>
                <a:ea typeface="DM Sans" pitchFamily="34" charset="-122"/>
                <a:cs typeface="DM Sans" pitchFamily="34" charset="-120"/>
              </a:rPr>
              <a:t>One scan means a safer collector and a fairer price.</a:t>
            </a:r>
            <a:endParaRPr lang="en-US" sz="1600" dirty="0"/>
          </a:p>
        </p:txBody>
      </p:sp>
      <p:sp>
        <p:nvSpPr>
          <p:cNvPr id="21" name="Text 19"/>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22" name="Text 20"/>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418592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03 · THE PRODUCT</a:t>
            </a:r>
            <a:endParaRPr lang="en-US" sz="1200" dirty="0"/>
          </a:p>
        </p:txBody>
      </p:sp>
      <p:sp>
        <p:nvSpPr>
          <p:cNvPr id="3" name="Text 1"/>
          <p:cNvSpPr>
            <a:spLocks noGrp="1"/>
          </p:cNvSpPr>
          <p:nvPr>
            <p:ph type="title"/>
          </p:nvPr>
        </p:nvSpPr>
        <p:spPr>
          <a:xfrm>
            <a:off x="812726" y="1203771"/>
            <a:ext cx="4185920"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See it work</a:t>
            </a:r>
            <a:endParaRPr lang="en-US" sz="3600" dirty="0"/>
          </a:p>
        </p:txBody>
      </p:sp>
      <p:sp>
        <p:nvSpPr>
          <p:cNvPr id="4" name="Shape 2"/>
          <p:cNvSpPr/>
          <p:nvPr/>
        </p:nvSpPr>
        <p:spPr>
          <a:xfrm>
            <a:off x="831776" y="1884288"/>
            <a:ext cx="0" cy="860723"/>
          </a:xfrm>
          <a:prstGeom prst="line">
            <a:avLst/>
          </a:prstGeom>
          <a:noFill/>
          <a:ln w="38100">
            <a:solidFill>
              <a:srgbClr val="FFC72C"/>
            </a:solidFill>
            <a:prstDash val="solid"/>
          </a:ln>
        </p:spPr>
      </p:sp>
      <p:sp>
        <p:nvSpPr>
          <p:cNvPr id="5" name="Text 3"/>
          <p:cNvSpPr/>
          <p:nvPr/>
        </p:nvSpPr>
        <p:spPr>
          <a:xfrm>
            <a:off x="996776" y="1909589"/>
            <a:ext cx="3996348"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Snap or upload</a:t>
            </a:r>
            <a:endParaRPr lang="en-US" sz="1800" dirty="0"/>
          </a:p>
        </p:txBody>
      </p:sp>
      <p:sp>
        <p:nvSpPr>
          <p:cNvPr id="6" name="Text 4"/>
          <p:cNvSpPr/>
          <p:nvPr/>
        </p:nvSpPr>
        <p:spPr>
          <a:xfrm>
            <a:off x="996776" y="2221880"/>
            <a:ext cx="3996348"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One tap opens the camera. The screen speaks Pidgin and says it works offline.</a:t>
            </a:r>
            <a:endParaRPr lang="en-US" sz="1400" dirty="0"/>
          </a:p>
        </p:txBody>
      </p:sp>
      <p:sp>
        <p:nvSpPr>
          <p:cNvPr id="7" name="Shape 5"/>
          <p:cNvSpPr/>
          <p:nvPr/>
        </p:nvSpPr>
        <p:spPr>
          <a:xfrm>
            <a:off x="831776" y="2922736"/>
            <a:ext cx="0" cy="1109638"/>
          </a:xfrm>
          <a:prstGeom prst="line">
            <a:avLst/>
          </a:prstGeom>
          <a:noFill/>
          <a:ln w="38100">
            <a:solidFill>
              <a:srgbClr val="FFC72C"/>
            </a:solidFill>
            <a:prstDash val="solid"/>
          </a:ln>
        </p:spPr>
      </p:sp>
      <p:sp>
        <p:nvSpPr>
          <p:cNvPr id="8" name="Text 6"/>
          <p:cNvSpPr/>
          <p:nvPr/>
        </p:nvSpPr>
        <p:spPr>
          <a:xfrm>
            <a:off x="996776" y="2948037"/>
            <a:ext cx="3996348"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Material, value, confidence</a:t>
            </a:r>
            <a:endParaRPr lang="en-US" sz="1800" dirty="0"/>
          </a:p>
        </p:txBody>
      </p:sp>
      <p:sp>
        <p:nvSpPr>
          <p:cNvPr id="9" name="Text 7"/>
          <p:cNvSpPr/>
          <p:nvPr/>
        </p:nvSpPr>
        <p:spPr>
          <a:xfrm>
            <a:off x="996776" y="3260328"/>
            <a:ext cx="3996348" cy="77214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The result shows an estimated value and a confidence score. The Phone AI badge shows it was made on the phone.</a:t>
            </a:r>
            <a:endParaRPr lang="en-US" sz="1400" dirty="0"/>
          </a:p>
        </p:txBody>
      </p:sp>
      <p:sp>
        <p:nvSpPr>
          <p:cNvPr id="10" name="Shape 8"/>
          <p:cNvSpPr/>
          <p:nvPr/>
        </p:nvSpPr>
        <p:spPr>
          <a:xfrm>
            <a:off x="831776" y="4210100"/>
            <a:ext cx="0" cy="860723"/>
          </a:xfrm>
          <a:prstGeom prst="line">
            <a:avLst/>
          </a:prstGeom>
          <a:noFill/>
          <a:ln w="38100">
            <a:solidFill>
              <a:srgbClr val="FFC72C"/>
            </a:solidFill>
            <a:prstDash val="solid"/>
          </a:ln>
        </p:spPr>
      </p:sp>
      <p:sp>
        <p:nvSpPr>
          <p:cNvPr id="11" name="Text 9"/>
          <p:cNvSpPr/>
          <p:nvPr/>
        </p:nvSpPr>
        <p:spPr>
          <a:xfrm>
            <a:off x="996776" y="4235400"/>
            <a:ext cx="3996348"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A20"/>
                </a:solidFill>
                <a:latin typeface="DM Sans" pitchFamily="34" charset="0"/>
                <a:ea typeface="DM Sans" pitchFamily="34" charset="-122"/>
                <a:cs typeface="DM Sans" pitchFamily="34" charset="-120"/>
              </a:rPr>
              <a:t>Safety advice, read aloud</a:t>
            </a:r>
            <a:endParaRPr lang="en-US" sz="1800" dirty="0"/>
          </a:p>
        </p:txBody>
      </p:sp>
      <p:sp>
        <p:nvSpPr>
          <p:cNvPr id="12" name="Text 10"/>
          <p:cNvSpPr/>
          <p:nvPr/>
        </p:nvSpPr>
        <p:spPr>
          <a:xfrm>
            <a:off x="996776" y="4547691"/>
            <a:ext cx="3996348"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4"/>
                </a:solidFill>
                <a:latin typeface="DM Sans" pitchFamily="34" charset="0"/>
                <a:ea typeface="DM Sans" pitchFamily="34" charset="-122"/>
                <a:cs typeface="DM Sans" pitchFamily="34" charset="-120"/>
              </a:rPr>
              <a:t>A clear Safe or hazard badge, plain advice in Pidgin, and one tap to hear it.</a:t>
            </a:r>
            <a:endParaRPr lang="en-US" sz="1400" dirty="0"/>
          </a:p>
        </p:txBody>
      </p:sp>
      <p:pic>
        <p:nvPicPr>
          <p:cNvPr id="13" name="Image 0" descr="InteliScrap AI Snap Scrap screen with Open Camera and Upload Image buttons, in Nigerian Pidgin"/>
          <p:cNvPicPr>
            <a:picLocks noChangeAspect="1"/>
          </p:cNvPicPr>
          <p:nvPr/>
        </p:nvPicPr>
        <p:blipFill>
          <a:blip r:embed="rId3"/>
          <a:srcRect t="12" b="12"/>
          <a:stretch/>
        </p:blipFill>
        <p:spPr>
          <a:xfrm>
            <a:off x="5813351" y="1141140"/>
            <a:ext cx="2241476" cy="4057551"/>
          </a:xfrm>
          <a:prstGeom prst="roundRect">
            <a:avLst>
              <a:gd name="adj" fmla="val 7932"/>
            </a:avLst>
          </a:prstGeom>
          <a:effectLst>
            <a:outerShdw blurRad="304800" dist="152400" dir="5400000" algn="bl" rotWithShape="0">
              <a:srgbClr val="0F2A20">
                <a:alpha val="28000"/>
              </a:srgbClr>
            </a:outerShdw>
          </a:effectLst>
        </p:spPr>
      </p:pic>
      <p:sp>
        <p:nvSpPr>
          <p:cNvPr id="14" name="Text 11"/>
          <p:cNvSpPr/>
          <p:nvPr/>
        </p:nvSpPr>
        <p:spPr>
          <a:xfrm>
            <a:off x="6609432" y="5300266"/>
            <a:ext cx="64918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7794A"/>
                </a:solidFill>
                <a:latin typeface="DM Sans" pitchFamily="34" charset="0"/>
                <a:ea typeface="DM Sans" pitchFamily="34" charset="-122"/>
                <a:cs typeface="DM Sans" pitchFamily="34" charset="-120"/>
              </a:rPr>
              <a:t>1 · Snap</a:t>
            </a:r>
            <a:endParaRPr lang="en-US" sz="1200" dirty="0"/>
          </a:p>
        </p:txBody>
      </p:sp>
      <p:pic>
        <p:nvPicPr>
          <p:cNvPr id="15" name="Image 1" descr="InteliScrap AI result screen: Steel, Phone AI badge, Safe badge, estimated value, confidence, and Pidgin safety advice with a Read Am aloud button"/>
          <p:cNvPicPr>
            <a:picLocks noChangeAspect="1"/>
          </p:cNvPicPr>
          <p:nvPr/>
        </p:nvPicPr>
        <p:blipFill>
          <a:blip r:embed="rId4"/>
          <a:srcRect l="45" r="45"/>
          <a:stretch/>
        </p:blipFill>
        <p:spPr>
          <a:xfrm>
            <a:off x="8308826" y="1880815"/>
            <a:ext cx="2540000" cy="2578075"/>
          </a:xfrm>
          <a:prstGeom prst="roundRect">
            <a:avLst>
              <a:gd name="adj" fmla="val 7000"/>
            </a:avLst>
          </a:prstGeom>
          <a:effectLst>
            <a:outerShdw blurRad="304800" dist="152400" dir="5400000" algn="bl" rotWithShape="0">
              <a:srgbClr val="0F2A20">
                <a:alpha val="28000"/>
              </a:srgbClr>
            </a:outerShdw>
          </a:effectLst>
        </p:spPr>
      </p:pic>
      <p:sp>
        <p:nvSpPr>
          <p:cNvPr id="16" name="Text 12"/>
          <p:cNvSpPr/>
          <p:nvPr/>
        </p:nvSpPr>
        <p:spPr>
          <a:xfrm>
            <a:off x="9214495" y="4560466"/>
            <a:ext cx="72866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7794A"/>
                </a:solidFill>
                <a:latin typeface="DM Sans" pitchFamily="34" charset="0"/>
                <a:ea typeface="DM Sans" pitchFamily="34" charset="-122"/>
                <a:cs typeface="DM Sans" pitchFamily="34" charset="-120"/>
              </a:rPr>
              <a:t>2 · Know</a:t>
            </a:r>
            <a:endParaRPr lang="en-US" sz="1200" dirty="0"/>
          </a:p>
        </p:txBody>
      </p:sp>
      <p:sp>
        <p:nvSpPr>
          <p:cNvPr id="17" name="Text 13"/>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18" name="Text 14"/>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20"/>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72C"/>
                </a:solidFill>
                <a:latin typeface="DM Sans" pitchFamily="34" charset="0"/>
                <a:ea typeface="DM Sans" pitchFamily="34" charset="-122"/>
                <a:cs typeface="DM Sans" pitchFamily="34" charset="-120"/>
              </a:rPr>
              <a:t>04 · HOW IT WORKS</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EE"/>
                </a:solidFill>
                <a:latin typeface="DM Sans" pitchFamily="34" charset="0"/>
                <a:ea typeface="DM Sans" pitchFamily="34" charset="-122"/>
                <a:cs typeface="DM Sans" pitchFamily="34" charset="-120"/>
              </a:rPr>
              <a:t>Works offline. Never guesses.</a:t>
            </a:r>
            <a:endParaRPr lang="en-US" sz="3600" dirty="0"/>
          </a:p>
        </p:txBody>
      </p:sp>
      <p:sp>
        <p:nvSpPr>
          <p:cNvPr id="4" name="Shape 2"/>
          <p:cNvSpPr/>
          <p:nvPr/>
        </p:nvSpPr>
        <p:spPr>
          <a:xfrm>
            <a:off x="815901" y="2040012"/>
            <a:ext cx="2273449" cy="1911424"/>
          </a:xfrm>
          <a:prstGeom prst="roundRect">
            <a:avLst>
              <a:gd name="adj" fmla="val 6478"/>
            </a:avLst>
          </a:prstGeom>
          <a:solidFill>
            <a:srgbClr val="17382B"/>
          </a:solidFill>
          <a:ln w="6350">
            <a:solidFill>
              <a:srgbClr val="2A5242"/>
            </a:solidFill>
            <a:prstDash val="solid"/>
          </a:ln>
        </p:spPr>
      </p:sp>
      <p:sp>
        <p:nvSpPr>
          <p:cNvPr id="5" name="Text 3"/>
          <p:cNvSpPr/>
          <p:nvPr/>
        </p:nvSpPr>
        <p:spPr>
          <a:xfrm>
            <a:off x="1023813" y="2247925"/>
            <a:ext cx="19133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72C"/>
                </a:solidFill>
                <a:latin typeface="DM Sans" pitchFamily="34" charset="0"/>
                <a:ea typeface="DM Sans" pitchFamily="34" charset="-122"/>
                <a:cs typeface="DM Sans" pitchFamily="34" charset="-120"/>
              </a:rPr>
              <a:t>STEP 1</a:t>
            </a:r>
            <a:endParaRPr lang="en-US" sz="1200" dirty="0"/>
          </a:p>
        </p:txBody>
      </p:sp>
      <p:sp>
        <p:nvSpPr>
          <p:cNvPr id="6" name="Text 4"/>
          <p:cNvSpPr/>
          <p:nvPr/>
        </p:nvSpPr>
        <p:spPr>
          <a:xfrm>
            <a:off x="1023813" y="2550046"/>
            <a:ext cx="1913352"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On the phone</a:t>
            </a:r>
            <a:endParaRPr lang="en-US" sz="2000" dirty="0"/>
          </a:p>
        </p:txBody>
      </p:sp>
      <p:sp>
        <p:nvSpPr>
          <p:cNvPr id="7" name="Text 5"/>
          <p:cNvSpPr/>
          <p:nvPr/>
        </p:nvSpPr>
        <p:spPr>
          <a:xfrm>
            <a:off x="1023813" y="2943572"/>
            <a:ext cx="1913352"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A built-in AI model reads the photo. No internet needed.</a:t>
            </a:r>
            <a:endParaRPr lang="en-US" sz="1500" dirty="0"/>
          </a:p>
        </p:txBody>
      </p:sp>
      <p:pic>
        <p:nvPicPr>
          <p:cNvPr id="8" name="Image 0" descr="arrow-right"/>
          <p:cNvPicPr>
            <a:picLocks noChangeAspect="1"/>
          </p:cNvPicPr>
          <p:nvPr/>
        </p:nvPicPr>
        <p:blipFill>
          <a:blip r:embed="rId3"/>
          <a:srcRect l="-3" r="-3"/>
          <a:stretch/>
        </p:blipFill>
        <p:spPr>
          <a:xfrm>
            <a:off x="3194100" y="2906861"/>
            <a:ext cx="279301" cy="177726"/>
          </a:xfrm>
          <a:prstGeom prst="rect">
            <a:avLst/>
          </a:prstGeom>
        </p:spPr>
      </p:pic>
      <p:sp>
        <p:nvSpPr>
          <p:cNvPr id="9" name="Shape 6"/>
          <p:cNvSpPr/>
          <p:nvPr/>
        </p:nvSpPr>
        <p:spPr>
          <a:xfrm>
            <a:off x="3578151" y="2040012"/>
            <a:ext cx="2273449" cy="1911424"/>
          </a:xfrm>
          <a:prstGeom prst="roundRect">
            <a:avLst>
              <a:gd name="adj" fmla="val 6478"/>
            </a:avLst>
          </a:prstGeom>
          <a:solidFill>
            <a:srgbClr val="17382B"/>
          </a:solidFill>
          <a:ln w="6350">
            <a:solidFill>
              <a:srgbClr val="2A5242"/>
            </a:solidFill>
            <a:prstDash val="solid"/>
          </a:ln>
        </p:spPr>
      </p:sp>
      <p:sp>
        <p:nvSpPr>
          <p:cNvPr id="10" name="Text 7"/>
          <p:cNvSpPr/>
          <p:nvPr/>
        </p:nvSpPr>
        <p:spPr>
          <a:xfrm>
            <a:off x="3786063" y="2247925"/>
            <a:ext cx="19133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72C"/>
                </a:solidFill>
                <a:latin typeface="DM Sans" pitchFamily="34" charset="0"/>
                <a:ea typeface="DM Sans" pitchFamily="34" charset="-122"/>
                <a:cs typeface="DM Sans" pitchFamily="34" charset="-120"/>
              </a:rPr>
              <a:t>STEP 2</a:t>
            </a:r>
            <a:endParaRPr lang="en-US" sz="1200" dirty="0"/>
          </a:p>
        </p:txBody>
      </p:sp>
      <p:sp>
        <p:nvSpPr>
          <p:cNvPr id="11" name="Text 8"/>
          <p:cNvSpPr/>
          <p:nvPr/>
        </p:nvSpPr>
        <p:spPr>
          <a:xfrm>
            <a:off x="3786063" y="2550046"/>
            <a:ext cx="1913352"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Server model</a:t>
            </a:r>
            <a:endParaRPr lang="en-US" sz="2000" dirty="0"/>
          </a:p>
        </p:txBody>
      </p:sp>
      <p:sp>
        <p:nvSpPr>
          <p:cNvPr id="12" name="Text 9"/>
          <p:cNvSpPr/>
          <p:nvPr/>
        </p:nvSpPr>
        <p:spPr>
          <a:xfrm>
            <a:off x="3786063" y="2943572"/>
            <a:ext cx="1913352"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If online, a larger vision model checks the photo.</a:t>
            </a:r>
            <a:endParaRPr lang="en-US" sz="1500" dirty="0"/>
          </a:p>
        </p:txBody>
      </p:sp>
      <p:pic>
        <p:nvPicPr>
          <p:cNvPr id="13" name="Image 1" descr="arrow-right"/>
          <p:cNvPicPr>
            <a:picLocks noChangeAspect="1"/>
          </p:cNvPicPr>
          <p:nvPr/>
        </p:nvPicPr>
        <p:blipFill>
          <a:blip r:embed="rId3"/>
          <a:srcRect l="-3" r="-3"/>
          <a:stretch/>
        </p:blipFill>
        <p:spPr>
          <a:xfrm>
            <a:off x="5956350" y="2906861"/>
            <a:ext cx="279301" cy="177726"/>
          </a:xfrm>
          <a:prstGeom prst="rect">
            <a:avLst/>
          </a:prstGeom>
        </p:spPr>
      </p:pic>
      <p:sp>
        <p:nvSpPr>
          <p:cNvPr id="14" name="Shape 10"/>
          <p:cNvSpPr/>
          <p:nvPr/>
        </p:nvSpPr>
        <p:spPr>
          <a:xfrm>
            <a:off x="6340401" y="2040012"/>
            <a:ext cx="2273449" cy="1911424"/>
          </a:xfrm>
          <a:prstGeom prst="roundRect">
            <a:avLst>
              <a:gd name="adj" fmla="val 6478"/>
            </a:avLst>
          </a:prstGeom>
          <a:solidFill>
            <a:srgbClr val="17382B"/>
          </a:solidFill>
          <a:ln w="6350">
            <a:solidFill>
              <a:srgbClr val="2A5242"/>
            </a:solidFill>
            <a:prstDash val="solid"/>
          </a:ln>
        </p:spPr>
      </p:sp>
      <p:sp>
        <p:nvSpPr>
          <p:cNvPr id="15" name="Text 11"/>
          <p:cNvSpPr/>
          <p:nvPr/>
        </p:nvSpPr>
        <p:spPr>
          <a:xfrm>
            <a:off x="6548313" y="2247925"/>
            <a:ext cx="19133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72C"/>
                </a:solidFill>
                <a:latin typeface="DM Sans" pitchFamily="34" charset="0"/>
                <a:ea typeface="DM Sans" pitchFamily="34" charset="-122"/>
                <a:cs typeface="DM Sans" pitchFamily="34" charset="-120"/>
              </a:rPr>
              <a:t>STEP 3</a:t>
            </a:r>
            <a:endParaRPr lang="en-US" sz="1200" dirty="0"/>
          </a:p>
        </p:txBody>
      </p:sp>
      <p:sp>
        <p:nvSpPr>
          <p:cNvPr id="16" name="Text 12"/>
          <p:cNvSpPr/>
          <p:nvPr/>
        </p:nvSpPr>
        <p:spPr>
          <a:xfrm>
            <a:off x="6548313" y="2550046"/>
            <a:ext cx="1913352"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Backup model</a:t>
            </a:r>
            <a:endParaRPr lang="en-US" sz="2000" dirty="0"/>
          </a:p>
        </p:txBody>
      </p:sp>
      <p:sp>
        <p:nvSpPr>
          <p:cNvPr id="17" name="Text 13"/>
          <p:cNvSpPr/>
          <p:nvPr/>
        </p:nvSpPr>
        <p:spPr>
          <a:xfrm>
            <a:off x="6548313" y="2943572"/>
            <a:ext cx="1913352"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A second on-phone model, used only when it is sure.</a:t>
            </a:r>
            <a:endParaRPr lang="en-US" sz="1500" dirty="0"/>
          </a:p>
        </p:txBody>
      </p:sp>
      <p:pic>
        <p:nvPicPr>
          <p:cNvPr id="18" name="Image 2" descr="arrow-right"/>
          <p:cNvPicPr>
            <a:picLocks noChangeAspect="1"/>
          </p:cNvPicPr>
          <p:nvPr/>
        </p:nvPicPr>
        <p:blipFill>
          <a:blip r:embed="rId3"/>
          <a:srcRect l="-3" r="-3"/>
          <a:stretch/>
        </p:blipFill>
        <p:spPr>
          <a:xfrm>
            <a:off x="8718600" y="2906861"/>
            <a:ext cx="279301" cy="177726"/>
          </a:xfrm>
          <a:prstGeom prst="rect">
            <a:avLst/>
          </a:prstGeom>
        </p:spPr>
      </p:pic>
      <p:sp>
        <p:nvSpPr>
          <p:cNvPr id="19" name="Shape 14"/>
          <p:cNvSpPr/>
          <p:nvPr/>
        </p:nvSpPr>
        <p:spPr>
          <a:xfrm>
            <a:off x="9102651" y="2040012"/>
            <a:ext cx="2273449" cy="1911424"/>
          </a:xfrm>
          <a:prstGeom prst="roundRect">
            <a:avLst>
              <a:gd name="adj" fmla="val 6478"/>
            </a:avLst>
          </a:prstGeom>
          <a:solidFill>
            <a:srgbClr val="17382B"/>
          </a:solidFill>
          <a:ln w="6350">
            <a:solidFill>
              <a:srgbClr val="2A5242"/>
            </a:solidFill>
            <a:prstDash val="solid"/>
          </a:ln>
        </p:spPr>
      </p:sp>
      <p:sp>
        <p:nvSpPr>
          <p:cNvPr id="20" name="Text 15"/>
          <p:cNvSpPr/>
          <p:nvPr/>
        </p:nvSpPr>
        <p:spPr>
          <a:xfrm>
            <a:off x="9310563" y="2247925"/>
            <a:ext cx="19133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72C"/>
                </a:solidFill>
                <a:latin typeface="DM Sans" pitchFamily="34" charset="0"/>
                <a:ea typeface="DM Sans" pitchFamily="34" charset="-122"/>
                <a:cs typeface="DM Sans" pitchFamily="34" charset="-120"/>
              </a:rPr>
              <a:t>STEP 4</a:t>
            </a:r>
            <a:endParaRPr lang="en-US" sz="1200" dirty="0"/>
          </a:p>
        </p:txBody>
      </p:sp>
      <p:sp>
        <p:nvSpPr>
          <p:cNvPr id="21" name="Text 16"/>
          <p:cNvSpPr/>
          <p:nvPr/>
        </p:nvSpPr>
        <p:spPr>
          <a:xfrm>
            <a:off x="9310563" y="2550046"/>
            <a:ext cx="1913352"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Manual pick</a:t>
            </a:r>
            <a:endParaRPr lang="en-US" sz="2000" dirty="0"/>
          </a:p>
        </p:txBody>
      </p:sp>
      <p:sp>
        <p:nvSpPr>
          <p:cNvPr id="22" name="Text 17"/>
          <p:cNvSpPr/>
          <p:nvPr/>
        </p:nvSpPr>
        <p:spPr>
          <a:xfrm>
            <a:off x="9310563" y="2943572"/>
            <a:ext cx="1913352"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If no AI is sure, the collector picks the material.</a:t>
            </a:r>
            <a:endParaRPr lang="en-US" sz="1500" dirty="0"/>
          </a:p>
        </p:txBody>
      </p:sp>
      <p:sp>
        <p:nvSpPr>
          <p:cNvPr id="23" name="Text 18"/>
          <p:cNvSpPr/>
          <p:nvPr/>
        </p:nvSpPr>
        <p:spPr>
          <a:xfrm>
            <a:off x="812726" y="4208611"/>
            <a:ext cx="10566549" cy="903883"/>
          </a:xfrm>
          <a:prstGeom prst="roundRect">
            <a:avLst>
              <a:gd name="adj" fmla="val 11240"/>
            </a:avLst>
          </a:prstGeom>
          <a:solidFill>
            <a:srgbClr val="FFC72C"/>
          </a:solidFill>
          <a:ln/>
        </p:spPr>
        <p:txBody>
          <a:bodyPr wrap="square" lIns="224242" tIns="148042" rIns="0" bIns="122642" rtlCol="0" anchor="t">
            <a:normAutofit/>
          </a:bodyPr>
          <a:lstStyle/>
          <a:p>
            <a:pPr marL="0" indent="0" algn="l">
              <a:lnSpc>
                <a:spcPts val="2160"/>
              </a:lnSpc>
              <a:buNone/>
            </a:pPr>
            <a:r>
              <a:rPr lang="en-US" sz="1600" b="1" dirty="0">
                <a:solidFill>
                  <a:srgbClr val="0F2A20"/>
                </a:solidFill>
                <a:latin typeface="DM Sans" pitchFamily="34" charset="0"/>
                <a:ea typeface="DM Sans" pitchFamily="34" charset="-122"/>
                <a:cs typeface="DM Sans" pitchFamily="34" charset="-120"/>
              </a:rPr>
              <a:t>Every result shows its source: on-device, server or manual. A collector can always tell a real AI result from a manual pick.</a:t>
            </a:r>
            <a:endParaRPr lang="en-US" sz="1600" dirty="0"/>
          </a:p>
        </p:txBody>
      </p:sp>
      <p:sp>
        <p:nvSpPr>
          <p:cNvPr id="24" name="Text 19"/>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CC2"/>
                </a:solidFill>
                <a:latin typeface="DM Sans" pitchFamily="34" charset="0"/>
                <a:ea typeface="DM Sans" pitchFamily="34" charset="-122"/>
                <a:cs typeface="DM Sans" pitchFamily="34" charset="-120"/>
              </a:rPr>
              <a:t>InteliScrap AI · MTN PachiPanda Challenge 2026</a:t>
            </a:r>
            <a:endParaRPr lang="en-US" sz="1200" dirty="0"/>
          </a:p>
        </p:txBody>
      </p:sp>
      <p:sp>
        <p:nvSpPr>
          <p:cNvPr id="25" name="Text 20"/>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CC2"/>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05 · WHO IT REACHES</a:t>
            </a:r>
            <a:endParaRPr lang="en-US" sz="1200" dirty="0"/>
          </a:p>
        </p:txBody>
      </p:sp>
      <p:sp>
        <p:nvSpPr>
          <p:cNvPr id="3" name="Text 1"/>
          <p:cNvSpPr>
            <a:spLocks noGrp="1"/>
          </p:cNvSpPr>
          <p:nvPr>
            <p:ph type="title"/>
          </p:nvPr>
        </p:nvSpPr>
        <p:spPr>
          <a:xfrm>
            <a:off x="812726" y="1254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Every phone, every collector</a:t>
            </a:r>
            <a:endParaRPr lang="en-US" sz="3600" dirty="0"/>
          </a:p>
        </p:txBody>
      </p:sp>
      <p:sp>
        <p:nvSpPr>
          <p:cNvPr id="4" name="Shape 2"/>
          <p:cNvSpPr/>
          <p:nvPr/>
        </p:nvSpPr>
        <p:spPr>
          <a:xfrm>
            <a:off x="815901" y="1989162"/>
            <a:ext cx="5175349" cy="1837879"/>
          </a:xfrm>
          <a:prstGeom prst="roundRect">
            <a:avLst>
              <a:gd name="adj" fmla="val 6737"/>
            </a:avLst>
          </a:prstGeom>
          <a:solidFill>
            <a:srgbClr val="FFFDF7"/>
          </a:solidFill>
          <a:ln w="6350">
            <a:solidFill>
              <a:srgbClr val="E4E0D2"/>
            </a:solidFill>
            <a:prstDash val="solid"/>
          </a:ln>
        </p:spPr>
      </p:sp>
      <p:pic>
        <p:nvPicPr>
          <p:cNvPr id="5" name="Image 0" descr="Globe"/>
          <p:cNvPicPr>
            <a:picLocks noChangeAspect="1"/>
          </p:cNvPicPr>
          <p:nvPr/>
        </p:nvPicPr>
        <p:blipFill>
          <a:blip r:embed="rId3"/>
          <a:srcRect/>
          <a:stretch/>
        </p:blipFill>
        <p:spPr>
          <a:xfrm>
            <a:off x="1049238" y="2222500"/>
            <a:ext cx="355575" cy="355575"/>
          </a:xfrm>
          <a:prstGeom prst="rect">
            <a:avLst/>
          </a:prstGeom>
        </p:spPr>
      </p:pic>
      <p:sp>
        <p:nvSpPr>
          <p:cNvPr id="6" name="Text 3"/>
          <p:cNvSpPr/>
          <p:nvPr/>
        </p:nvSpPr>
        <p:spPr>
          <a:xfrm>
            <a:off x="1049238" y="2666876"/>
            <a:ext cx="4849934"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Smartphone</a:t>
            </a:r>
            <a:endParaRPr lang="en-US" sz="2000" dirty="0"/>
          </a:p>
        </p:txBody>
      </p:sp>
      <p:sp>
        <p:nvSpPr>
          <p:cNvPr id="7" name="Text 4"/>
          <p:cNvSpPr/>
          <p:nvPr/>
        </p:nvSpPr>
        <p:spPr>
          <a:xfrm>
            <a:off x="1049238" y="3060402"/>
            <a:ext cx="4849934"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An installable web app with photo scan, voice guide and saved scans. It syncs when the internet returns.</a:t>
            </a:r>
            <a:endParaRPr lang="en-US" sz="1500" dirty="0"/>
          </a:p>
        </p:txBody>
      </p:sp>
      <p:sp>
        <p:nvSpPr>
          <p:cNvPr id="8" name="Shape 5"/>
          <p:cNvSpPr/>
          <p:nvPr/>
        </p:nvSpPr>
        <p:spPr>
          <a:xfrm>
            <a:off x="6200750" y="1989162"/>
            <a:ext cx="5175349" cy="1837879"/>
          </a:xfrm>
          <a:prstGeom prst="roundRect">
            <a:avLst>
              <a:gd name="adj" fmla="val 6737"/>
            </a:avLst>
          </a:prstGeom>
          <a:solidFill>
            <a:srgbClr val="FFFDF7"/>
          </a:solidFill>
          <a:ln w="6350">
            <a:solidFill>
              <a:srgbClr val="E4E0D2"/>
            </a:solidFill>
            <a:prstDash val="solid"/>
          </a:ln>
        </p:spPr>
      </p:sp>
      <p:pic>
        <p:nvPicPr>
          <p:cNvPr id="9" name="Image 1" descr="Chat"/>
          <p:cNvPicPr>
            <a:picLocks noChangeAspect="1"/>
          </p:cNvPicPr>
          <p:nvPr/>
        </p:nvPicPr>
        <p:blipFill>
          <a:blip r:embed="rId4"/>
          <a:srcRect/>
          <a:stretch/>
        </p:blipFill>
        <p:spPr>
          <a:xfrm>
            <a:off x="6434088" y="2222500"/>
            <a:ext cx="355575" cy="355575"/>
          </a:xfrm>
          <a:prstGeom prst="rect">
            <a:avLst/>
          </a:prstGeom>
        </p:spPr>
      </p:pic>
      <p:sp>
        <p:nvSpPr>
          <p:cNvPr id="10" name="Text 6"/>
          <p:cNvSpPr/>
          <p:nvPr/>
        </p:nvSpPr>
        <p:spPr>
          <a:xfrm>
            <a:off x="6434088" y="2666876"/>
            <a:ext cx="4849934"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Feature phone</a:t>
            </a:r>
            <a:endParaRPr lang="en-US" sz="2000" dirty="0"/>
          </a:p>
        </p:txBody>
      </p:sp>
      <p:sp>
        <p:nvSpPr>
          <p:cNvPr id="11" name="Text 7"/>
          <p:cNvSpPr/>
          <p:nvPr/>
        </p:nvSpPr>
        <p:spPr>
          <a:xfrm>
            <a:off x="6434088" y="3060402"/>
            <a:ext cx="4849934"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Sign up by USSD code. Get pickup alerts by SMS. Accept a job by USSD or a voice call.</a:t>
            </a:r>
            <a:endParaRPr lang="en-US" sz="1500" dirty="0"/>
          </a:p>
        </p:txBody>
      </p:sp>
      <p:sp>
        <p:nvSpPr>
          <p:cNvPr id="12" name="Shape 8"/>
          <p:cNvSpPr/>
          <p:nvPr/>
        </p:nvSpPr>
        <p:spPr>
          <a:xfrm>
            <a:off x="812726" y="4058791"/>
            <a:ext cx="10566549" cy="1371327"/>
          </a:xfrm>
          <a:prstGeom prst="roundRect">
            <a:avLst>
              <a:gd name="adj" fmla="val 9261"/>
            </a:avLst>
          </a:prstGeom>
          <a:solidFill>
            <a:srgbClr val="0F2A20"/>
          </a:solidFill>
          <a:ln/>
        </p:spPr>
      </p:sp>
      <p:sp>
        <p:nvSpPr>
          <p:cNvPr id="13" name="Text 9"/>
          <p:cNvSpPr/>
          <p:nvPr/>
        </p:nvSpPr>
        <p:spPr>
          <a:xfrm>
            <a:off x="1066726" y="4287366"/>
            <a:ext cx="10360305"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C72C"/>
                </a:solidFill>
                <a:latin typeface="DM Sans" pitchFamily="34" charset="0"/>
                <a:ea typeface="DM Sans" pitchFamily="34" charset="-122"/>
                <a:cs typeface="DM Sans" pitchFamily="34" charset="-120"/>
              </a:rPr>
              <a:t>Nearby matching</a:t>
            </a:r>
            <a:endParaRPr lang="en-US" sz="2000" dirty="0"/>
          </a:p>
        </p:txBody>
      </p:sp>
      <p:sp>
        <p:nvSpPr>
          <p:cNvPr id="14" name="Text 10"/>
          <p:cNvSpPr/>
          <p:nvPr/>
        </p:nvSpPr>
        <p:spPr>
          <a:xfrm>
            <a:off x="1066726" y="4668242"/>
            <a:ext cx="10360305"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A household lists scrap. We find the closest collectors on a hexagon map and alert them. The first to accept gets the job.</a:t>
            </a:r>
            <a:endParaRPr lang="en-US" sz="1500" dirty="0"/>
          </a:p>
        </p:txBody>
      </p:sp>
      <p:sp>
        <p:nvSpPr>
          <p:cNvPr id="15" name="Text 11"/>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16" name="Text 12"/>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06 · WHY WE ARE DIFFERENT</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Built for the street, not the office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0663" y="2044774"/>
          <a:ext cx="10558611" cy="2446734"/>
        </p:xfrm>
        <a:graphic>
          <a:graphicData uri="http://schemas.openxmlformats.org/drawingml/2006/table">
            <a:tbl>
              <a:tblPr/>
              <a:tblGrid>
                <a:gridCol w="2534067">
                  <a:extLst>
                    <a:ext uri="{9D8B030D-6E8A-4147-A177-3AD203B41FA5}">
                      <a16:colId xmlns:a16="http://schemas.microsoft.com/office/drawing/2014/main" val="20000"/>
                    </a:ext>
                  </a:extLst>
                </a:gridCol>
                <a:gridCol w="3167583">
                  <a:extLst>
                    <a:ext uri="{9D8B030D-6E8A-4147-A177-3AD203B41FA5}">
                      <a16:colId xmlns:a16="http://schemas.microsoft.com/office/drawing/2014/main" val="20001"/>
                    </a:ext>
                  </a:extLst>
                </a:gridCol>
                <a:gridCol w="4856961">
                  <a:extLst>
                    <a:ext uri="{9D8B030D-6E8A-4147-A177-3AD203B41FA5}">
                      <a16:colId xmlns:a16="http://schemas.microsoft.com/office/drawing/2014/main" val="20002"/>
                    </a:ext>
                  </a:extLst>
                </a:gridCol>
              </a:tblGrid>
              <a:tr h="407789">
                <a:tc>
                  <a:txBody>
                    <a:bodyPr/>
                    <a:lstStyle/>
                    <a:p>
                      <a:pPr marL="0" indent="0">
                        <a:lnSpc>
                          <a:spcPts val="2100"/>
                        </a:lnSpc>
                        <a:buNone/>
                      </a:pPr>
                      <a:r>
                        <a:rPr lang="en-US" sz="1500" b="1" dirty="0">
                          <a:solidFill>
                            <a:srgbClr val="0F2A20"/>
                          </a:solidFill>
                          <a:latin typeface="DM Sans" pitchFamily="34" charset="0"/>
                          <a:ea typeface="DM Sans" pitchFamily="34" charset="-122"/>
                          <a:cs typeface="DM Sans" pitchFamily="34" charset="-120"/>
                        </a:rPr>
                        <a:t>What matters</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marL="0" indent="0">
                        <a:lnSpc>
                          <a:spcPts val="2100"/>
                        </a:lnSpc>
                        <a:buNone/>
                      </a:pPr>
                      <a:r>
                        <a:rPr lang="en-US" sz="1500" b="1" dirty="0">
                          <a:solidFill>
                            <a:srgbClr val="0F2A20"/>
                          </a:solidFill>
                          <a:latin typeface="DM Sans" pitchFamily="34" charset="0"/>
                          <a:ea typeface="DM Sans" pitchFamily="34" charset="-122"/>
                          <a:cs typeface="DM Sans" pitchFamily="34" charset="-120"/>
                        </a:rPr>
                        <a:t>Typical scrap app</a:t>
                      </a:r>
                      <a:endParaRPr lang="en-US" sz="1500" dirty="0">
                        <a:latin typeface="DM Sans" charset="0"/>
                        <a:ea typeface="DM Sans" charset="0"/>
                        <a:cs typeface="DM Sans" charset="0"/>
                      </a:endParaRPr>
                    </a:p>
                  </a:txBody>
                  <a:tcPr marL="66675" marR="66675" marT="66675" marB="66675">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marL="0" indent="0">
                        <a:lnSpc>
                          <a:spcPts val="2100"/>
                        </a:lnSpc>
                        <a:buNone/>
                      </a:pPr>
                      <a:r>
                        <a:rPr lang="en-US" sz="1500" b="1" dirty="0">
                          <a:solidFill>
                            <a:srgbClr val="17794A"/>
                          </a:solidFill>
                          <a:latin typeface="DM Sans" pitchFamily="34" charset="0"/>
                          <a:ea typeface="DM Sans" pitchFamily="34" charset="-122"/>
                          <a:cs typeface="DM Sans" pitchFamily="34" charset="-120"/>
                        </a:rPr>
                        <a:t>InteliScrap AI</a:t>
                      </a:r>
                      <a:endParaRPr lang="en-US" sz="1500" dirty="0">
                        <a:latin typeface="DM Sans" charset="0"/>
                        <a:ea typeface="DM Sans" charset="0"/>
                        <a:cs typeface="DM Sans" charset="0"/>
                      </a:endParaRPr>
                    </a:p>
                  </a:txBody>
                  <a:tcPr marL="66675" marR="66675" marT="66675" marB="66675">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extLst>
                  <a:ext uri="{0D108BD9-81ED-4DB2-BD59-A6C34878D82A}">
                    <a16:rowId xmlns:a16="http://schemas.microsoft.com/office/drawing/2014/main" val="10000"/>
                  </a:ext>
                </a:extLst>
              </a:tr>
              <a:tr h="407789">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Internet</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Required</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Core scan runs on the phone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1"/>
                  </a:ext>
                </a:extLst>
              </a:tr>
              <a:tr h="407789">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Language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English text</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Hausa and Pidgin voice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2"/>
                  </a:ext>
                </a:extLst>
              </a:tr>
              <a:tr h="407789">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Hazard warnings</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Rare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15 hazard types, read aloud</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3"/>
                  </a:ext>
                </a:extLst>
              </a:tr>
              <a:tr h="407789">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Fair price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Seller must know</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Price per kilo in Naira</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4"/>
                  </a:ext>
                </a:extLst>
              </a:tr>
              <a:tr h="407789">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Feature phones</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Not supported</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2100"/>
                        </a:lnSpc>
                        <a:buNone/>
                      </a:pPr>
                      <a:r>
                        <a:rPr lang="en-US" sz="1500" dirty="0">
                          <a:solidFill>
                            <a:srgbClr val="3E4A44"/>
                          </a:solidFill>
                          <a:latin typeface="DM Sans" pitchFamily="34" charset="0"/>
                          <a:ea typeface="DM Sans" pitchFamily="34" charset="-122"/>
                          <a:cs typeface="DM Sans" pitchFamily="34" charset="-120"/>
                        </a:rPr>
                        <a:t>USSD, SMS and voice</a:t>
                      </a:r>
                      <a:endParaRPr lang="en-US" sz="1500" dirty="0">
                        <a:latin typeface="DM Sans" charset="0"/>
                        <a:ea typeface="DM Sans" charset="0"/>
                        <a:cs typeface="DM Sans" charset="0"/>
                      </a:endParaRPr>
                    </a:p>
                  </a:txBody>
                  <a:tcPr marL="66675" marR="66675" marT="66675" marB="66675">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726" y="4745509"/>
            <a:ext cx="10566549" cy="619497"/>
          </a:xfrm>
          <a:prstGeom prst="roundRect">
            <a:avLst>
              <a:gd name="adj" fmla="val 16400"/>
            </a:avLst>
          </a:prstGeom>
          <a:solidFill>
            <a:srgbClr val="0F2A20"/>
          </a:solidFill>
          <a:ln/>
        </p:spPr>
        <p:txBody>
          <a:bodyPr wrap="square" lIns="224242" tIns="148042" rIns="0" bIns="122642" rtlCol="0" anchor="t">
            <a:normAutofit/>
          </a:bodyPr>
          <a:lstStyle/>
          <a:p>
            <a:pPr marL="0" indent="0" algn="l">
              <a:lnSpc>
                <a:spcPts val="2080"/>
              </a:lnSpc>
              <a:buNone/>
            </a:pPr>
            <a:r>
              <a:rPr lang="en-US" sz="1600" b="1" dirty="0">
                <a:solidFill>
                  <a:srgbClr val="F7F5EE"/>
                </a:solidFill>
                <a:latin typeface="DM Sans" pitchFamily="34" charset="0"/>
                <a:ea typeface="DM Sans" pitchFamily="34" charset="-122"/>
                <a:cs typeface="DM Sans" pitchFamily="34" charset="-120"/>
              </a:rPr>
              <a:t>Every row is a real street limit: no data, low literacy, basic phones.</a:t>
            </a:r>
            <a:endParaRPr lang="en-US" sz="1600" dirty="0"/>
          </a:p>
        </p:txBody>
      </p:sp>
      <p:sp>
        <p:nvSpPr>
          <p:cNvPr id="6" name="Text 3"/>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7" name="Text 4"/>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A20"/>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72C"/>
                </a:solidFill>
                <a:latin typeface="DM Sans" pitchFamily="34" charset="0"/>
                <a:ea typeface="DM Sans" pitchFamily="34" charset="-122"/>
                <a:cs typeface="DM Sans" pitchFamily="34" charset="-120"/>
              </a:rPr>
              <a:t>07 · WHAT WE HAVE BUILT</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EE"/>
                </a:solidFill>
                <a:latin typeface="DM Sans" pitchFamily="34" charset="0"/>
                <a:ea typeface="DM Sans" pitchFamily="34" charset="-122"/>
                <a:cs typeface="DM Sans" pitchFamily="34" charset="-120"/>
              </a:rPr>
              <a:t>A working prototype, not a slide idea</a:t>
            </a:r>
            <a:endParaRPr lang="en-US" sz="3600" dirty="0"/>
          </a:p>
        </p:txBody>
      </p:sp>
      <p:sp>
        <p:nvSpPr>
          <p:cNvPr id="4" name="Shape 2"/>
          <p:cNvSpPr/>
          <p:nvPr/>
        </p:nvSpPr>
        <p:spPr>
          <a:xfrm>
            <a:off x="815901" y="2040012"/>
            <a:ext cx="2482924" cy="2079352"/>
          </a:xfrm>
          <a:prstGeom prst="roundRect">
            <a:avLst>
              <a:gd name="adj" fmla="val 5955"/>
            </a:avLst>
          </a:prstGeom>
          <a:solidFill>
            <a:srgbClr val="17382B"/>
          </a:solidFill>
          <a:ln w="6350">
            <a:solidFill>
              <a:srgbClr val="2A5242"/>
            </a:solidFill>
            <a:prstDash val="solid"/>
          </a:ln>
        </p:spPr>
      </p:sp>
      <p:sp>
        <p:nvSpPr>
          <p:cNvPr id="5" name="Text 3"/>
          <p:cNvSpPr/>
          <p:nvPr/>
        </p:nvSpPr>
        <p:spPr>
          <a:xfrm>
            <a:off x="1049238" y="2273350"/>
            <a:ext cx="2076736"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FC72C"/>
                </a:solidFill>
                <a:latin typeface="DM Sans" pitchFamily="34" charset="0"/>
                <a:ea typeface="DM Sans" pitchFamily="34" charset="-122"/>
                <a:cs typeface="DM Sans" pitchFamily="34" charset="-120"/>
              </a:rPr>
              <a:t>8</a:t>
            </a:r>
            <a:endParaRPr lang="en-US" sz="6000" dirty="0"/>
          </a:p>
        </p:txBody>
      </p:sp>
      <p:sp>
        <p:nvSpPr>
          <p:cNvPr id="6" name="Text 4"/>
          <p:cNvSpPr/>
          <p:nvPr/>
        </p:nvSpPr>
        <p:spPr>
          <a:xfrm>
            <a:off x="1049238" y="3086075"/>
            <a:ext cx="2076736"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scrap classes the on-device model supports</a:t>
            </a:r>
            <a:endParaRPr lang="en-US" sz="1500" dirty="0"/>
          </a:p>
        </p:txBody>
      </p:sp>
      <p:sp>
        <p:nvSpPr>
          <p:cNvPr id="7" name="Shape 5"/>
          <p:cNvSpPr/>
          <p:nvPr/>
        </p:nvSpPr>
        <p:spPr>
          <a:xfrm>
            <a:off x="3508325" y="2040012"/>
            <a:ext cx="2482924" cy="2079352"/>
          </a:xfrm>
          <a:prstGeom prst="roundRect">
            <a:avLst>
              <a:gd name="adj" fmla="val 5955"/>
            </a:avLst>
          </a:prstGeom>
          <a:solidFill>
            <a:srgbClr val="17382B"/>
          </a:solidFill>
          <a:ln w="6350">
            <a:solidFill>
              <a:srgbClr val="2A5242"/>
            </a:solidFill>
            <a:prstDash val="solid"/>
          </a:ln>
        </p:spPr>
      </p:sp>
      <p:sp>
        <p:nvSpPr>
          <p:cNvPr id="8" name="Text 6"/>
          <p:cNvSpPr/>
          <p:nvPr/>
        </p:nvSpPr>
        <p:spPr>
          <a:xfrm>
            <a:off x="3741663" y="2273350"/>
            <a:ext cx="2076736"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FC72C"/>
                </a:solidFill>
                <a:latin typeface="DM Sans" pitchFamily="34" charset="0"/>
                <a:ea typeface="DM Sans" pitchFamily="34" charset="-122"/>
                <a:cs typeface="DM Sans" pitchFamily="34" charset="-120"/>
              </a:rPr>
              <a:t>15</a:t>
            </a:r>
            <a:endParaRPr lang="en-US" sz="6000" dirty="0"/>
          </a:p>
        </p:txBody>
      </p:sp>
      <p:sp>
        <p:nvSpPr>
          <p:cNvPr id="9" name="Text 7"/>
          <p:cNvSpPr/>
          <p:nvPr/>
        </p:nvSpPr>
        <p:spPr>
          <a:xfrm>
            <a:off x="3741663" y="3086075"/>
            <a:ext cx="2076736"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hazard types with Hausa and Pidgin warnings</a:t>
            </a:r>
            <a:endParaRPr lang="en-US" sz="1500" dirty="0"/>
          </a:p>
        </p:txBody>
      </p:sp>
      <p:sp>
        <p:nvSpPr>
          <p:cNvPr id="10" name="Shape 8"/>
          <p:cNvSpPr/>
          <p:nvPr/>
        </p:nvSpPr>
        <p:spPr>
          <a:xfrm>
            <a:off x="6200750" y="2040012"/>
            <a:ext cx="2482924" cy="2079352"/>
          </a:xfrm>
          <a:prstGeom prst="roundRect">
            <a:avLst>
              <a:gd name="adj" fmla="val 5955"/>
            </a:avLst>
          </a:prstGeom>
          <a:solidFill>
            <a:srgbClr val="17382B"/>
          </a:solidFill>
          <a:ln w="6350">
            <a:solidFill>
              <a:srgbClr val="2A5242"/>
            </a:solidFill>
            <a:prstDash val="solid"/>
          </a:ln>
        </p:spPr>
      </p:sp>
      <p:sp>
        <p:nvSpPr>
          <p:cNvPr id="11" name="Text 9"/>
          <p:cNvSpPr/>
          <p:nvPr/>
        </p:nvSpPr>
        <p:spPr>
          <a:xfrm>
            <a:off x="6434088" y="2273350"/>
            <a:ext cx="2076736"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FC72C"/>
                </a:solidFill>
                <a:latin typeface="DM Sans" pitchFamily="34" charset="0"/>
                <a:ea typeface="DM Sans" pitchFamily="34" charset="-122"/>
                <a:cs typeface="DM Sans" pitchFamily="34" charset="-120"/>
              </a:rPr>
              <a:t>62</a:t>
            </a:r>
            <a:endParaRPr lang="en-US" sz="6000" dirty="0"/>
          </a:p>
        </p:txBody>
      </p:sp>
      <p:sp>
        <p:nvSpPr>
          <p:cNvPr id="12" name="Text 10"/>
          <p:cNvSpPr/>
          <p:nvPr/>
        </p:nvSpPr>
        <p:spPr>
          <a:xfrm>
            <a:off x="6434088" y="3086075"/>
            <a:ext cx="2076736"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automated tests covering the backend</a:t>
            </a:r>
            <a:endParaRPr lang="en-US" sz="1500" dirty="0"/>
          </a:p>
        </p:txBody>
      </p:sp>
      <p:sp>
        <p:nvSpPr>
          <p:cNvPr id="13" name="Shape 11"/>
          <p:cNvSpPr/>
          <p:nvPr/>
        </p:nvSpPr>
        <p:spPr>
          <a:xfrm>
            <a:off x="8893175" y="2040012"/>
            <a:ext cx="2482924" cy="2079352"/>
          </a:xfrm>
          <a:prstGeom prst="roundRect">
            <a:avLst>
              <a:gd name="adj" fmla="val 5955"/>
            </a:avLst>
          </a:prstGeom>
          <a:solidFill>
            <a:srgbClr val="17382B"/>
          </a:solidFill>
          <a:ln w="6350">
            <a:solidFill>
              <a:srgbClr val="2A5242"/>
            </a:solidFill>
            <a:prstDash val="solid"/>
          </a:ln>
        </p:spPr>
      </p:sp>
      <p:sp>
        <p:nvSpPr>
          <p:cNvPr id="14" name="Text 12"/>
          <p:cNvSpPr/>
          <p:nvPr/>
        </p:nvSpPr>
        <p:spPr>
          <a:xfrm>
            <a:off x="9126513" y="2273350"/>
            <a:ext cx="2076736"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FC72C"/>
                </a:solidFill>
                <a:latin typeface="DM Sans" pitchFamily="34" charset="0"/>
                <a:ea typeface="DM Sans" pitchFamily="34" charset="-122"/>
                <a:cs typeface="DM Sans" pitchFamily="34" charset="-120"/>
              </a:rPr>
              <a:t>6</a:t>
            </a:r>
            <a:endParaRPr lang="en-US" sz="6000" dirty="0"/>
          </a:p>
        </p:txBody>
      </p:sp>
      <p:sp>
        <p:nvSpPr>
          <p:cNvPr id="15" name="Text 13"/>
          <p:cNvSpPr/>
          <p:nvPr/>
        </p:nvSpPr>
        <p:spPr>
          <a:xfrm>
            <a:off x="9126513" y="3086075"/>
            <a:ext cx="2076736"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Zaria hubs on the USSD sign-up menu</a:t>
            </a:r>
            <a:endParaRPr lang="en-US" sz="1500" dirty="0"/>
          </a:p>
        </p:txBody>
      </p:sp>
      <p:sp>
        <p:nvSpPr>
          <p:cNvPr id="16" name="Text 14"/>
          <p:cNvSpPr/>
          <p:nvPr/>
        </p:nvSpPr>
        <p:spPr>
          <a:xfrm>
            <a:off x="812726" y="4376539"/>
            <a:ext cx="10883545" cy="59417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5EE"/>
                </a:solidFill>
                <a:latin typeface="DM Sans" pitchFamily="34" charset="0"/>
                <a:ea typeface="DM Sans" pitchFamily="34" charset="-122"/>
                <a:cs typeface="DM Sans" pitchFamily="34" charset="-120"/>
              </a:rPr>
              <a:t>Working today:</a:t>
            </a:r>
            <a:r>
              <a:rPr lang="en-US" sz="1600" dirty="0">
                <a:solidFill>
                  <a:srgbClr val="D5E3DB"/>
                </a:solidFill>
                <a:latin typeface="DM Sans" pitchFamily="34" charset="0"/>
                <a:ea typeface="DM Sans" pitchFamily="34" charset="-122"/>
                <a:cs typeface="DM Sans" pitchFamily="34" charset="-120"/>
              </a:rPr>
              <a:t> offline app, photo scan, hazards and prices, voice guide, pickup matching, USSD and SMS, hub dashboards.</a:t>
            </a:r>
            <a:endParaRPr lang="en-US" sz="1600" dirty="0"/>
          </a:p>
        </p:txBody>
      </p:sp>
      <p:sp>
        <p:nvSpPr>
          <p:cNvPr id="17" name="Text 15"/>
          <p:cNvSpPr/>
          <p:nvPr/>
        </p:nvSpPr>
        <p:spPr>
          <a:xfrm>
            <a:off x="812726" y="5199311"/>
            <a:ext cx="10883545"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72C"/>
                </a:solidFill>
                <a:latin typeface="DM Sans" pitchFamily="34" charset="0"/>
                <a:ea typeface="DM Sans" pitchFamily="34" charset="-122"/>
                <a:cs typeface="DM Sans" pitchFamily="34" charset="-120"/>
              </a:rPr>
              <a:t>Next:</a:t>
            </a:r>
            <a:r>
              <a:rPr lang="en-US" sz="1600" dirty="0">
                <a:solidFill>
                  <a:srgbClr val="D5E3DB"/>
                </a:solidFill>
                <a:latin typeface="DM Sans" pitchFamily="34" charset="0"/>
                <a:ea typeface="DM Sans" pitchFamily="34" charset="-122"/>
                <a:cs typeface="DM Sans" pitchFamily="34" charset="-120"/>
              </a:rPr>
              <a:t> train the on-device model on real local scrap photos.</a:t>
            </a:r>
            <a:endParaRPr lang="en-US" sz="1600" dirty="0"/>
          </a:p>
        </p:txBody>
      </p:sp>
      <p:sp>
        <p:nvSpPr>
          <p:cNvPr id="18" name="Text 16"/>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CC2"/>
                </a:solidFill>
                <a:latin typeface="DM Sans" pitchFamily="34" charset="0"/>
                <a:ea typeface="DM Sans" pitchFamily="34" charset="-122"/>
                <a:cs typeface="DM Sans" pitchFamily="34" charset="-120"/>
              </a:rPr>
              <a:t>InteliScrap AI · MTN PachiPanda Challenge 2026</a:t>
            </a:r>
            <a:endParaRPr lang="en-US" sz="1200" dirty="0"/>
          </a:p>
        </p:txBody>
      </p:sp>
      <p:sp>
        <p:nvSpPr>
          <p:cNvPr id="19" name="Text 17"/>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CC2"/>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08 · BUSINESS MODEL, PHASE 1</a:t>
            </a:r>
            <a:endParaRPr lang="en-US" sz="1200" dirty="0"/>
          </a:p>
        </p:txBody>
      </p:sp>
      <p:sp>
        <p:nvSpPr>
          <p:cNvPr id="3" name="Text 1"/>
          <p:cNvSpPr>
            <a:spLocks noGrp="1"/>
          </p:cNvSpPr>
          <p:nvPr>
            <p:ph type="title"/>
          </p:nvPr>
        </p:nvSpPr>
        <p:spPr>
          <a:xfrm>
            <a:off x="812726" y="1254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Free for collectors. Businesses pay.</a:t>
            </a:r>
            <a:endParaRPr lang="en-US" sz="3600" dirty="0"/>
          </a:p>
        </p:txBody>
      </p:sp>
      <p:sp>
        <p:nvSpPr>
          <p:cNvPr id="4" name="Shape 2"/>
          <p:cNvSpPr/>
          <p:nvPr/>
        </p:nvSpPr>
        <p:spPr>
          <a:xfrm>
            <a:off x="815901" y="1989162"/>
            <a:ext cx="3380358" cy="2371179"/>
          </a:xfrm>
          <a:prstGeom prst="roundRect">
            <a:avLst>
              <a:gd name="adj" fmla="val 5222"/>
            </a:avLst>
          </a:prstGeom>
          <a:solidFill>
            <a:srgbClr val="FFFDF7"/>
          </a:solidFill>
          <a:ln w="6350">
            <a:solidFill>
              <a:srgbClr val="E4E0D2"/>
            </a:solidFill>
            <a:prstDash val="solid"/>
          </a:ln>
        </p:spPr>
      </p:sp>
      <p:pic>
        <p:nvPicPr>
          <p:cNvPr id="5" name="Image 0" descr="Database"/>
          <p:cNvPicPr>
            <a:picLocks noChangeAspect="1"/>
          </p:cNvPicPr>
          <p:nvPr/>
        </p:nvPicPr>
        <p:blipFill>
          <a:blip r:embed="rId3"/>
          <a:srcRect/>
          <a:stretch/>
        </p:blipFill>
        <p:spPr>
          <a:xfrm>
            <a:off x="1049238" y="2222500"/>
            <a:ext cx="355575" cy="355575"/>
          </a:xfrm>
          <a:prstGeom prst="rect">
            <a:avLst/>
          </a:prstGeom>
        </p:spPr>
      </p:pic>
      <p:sp>
        <p:nvSpPr>
          <p:cNvPr id="6" name="Text 3"/>
          <p:cNvSpPr/>
          <p:nvPr/>
        </p:nvSpPr>
        <p:spPr>
          <a:xfrm>
            <a:off x="1049238" y="2666876"/>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Hub subscriptions</a:t>
            </a:r>
            <a:endParaRPr lang="en-US" sz="2000" dirty="0"/>
          </a:p>
        </p:txBody>
      </p:sp>
      <p:sp>
        <p:nvSpPr>
          <p:cNvPr id="7" name="Text 4"/>
          <p:cNvSpPr/>
          <p:nvPr/>
        </p:nvSpPr>
        <p:spPr>
          <a:xfrm>
            <a:off x="1049238" y="3060402"/>
            <a:ext cx="3001093"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Recycling hubs pay a monthly fee to post daily buy requests and track live progress.</a:t>
            </a:r>
            <a:endParaRPr lang="en-US" sz="1500" dirty="0"/>
          </a:p>
        </p:txBody>
      </p:sp>
      <p:sp>
        <p:nvSpPr>
          <p:cNvPr id="8" name="Shape 5"/>
          <p:cNvSpPr/>
          <p:nvPr/>
        </p:nvSpPr>
        <p:spPr>
          <a:xfrm>
            <a:off x="4405759" y="1989162"/>
            <a:ext cx="3380482" cy="2371179"/>
          </a:xfrm>
          <a:prstGeom prst="roundRect">
            <a:avLst>
              <a:gd name="adj" fmla="val 5222"/>
            </a:avLst>
          </a:prstGeom>
          <a:solidFill>
            <a:srgbClr val="FFFDF7"/>
          </a:solidFill>
          <a:ln w="6350">
            <a:solidFill>
              <a:srgbClr val="E4E0D2"/>
            </a:solidFill>
            <a:prstDash val="solid"/>
          </a:ln>
        </p:spPr>
      </p:sp>
      <p:pic>
        <p:nvPicPr>
          <p:cNvPr id="9" name="Image 1" descr="Check"/>
          <p:cNvPicPr>
            <a:picLocks noChangeAspect="1"/>
          </p:cNvPicPr>
          <p:nvPr/>
        </p:nvPicPr>
        <p:blipFill>
          <a:blip r:embed="rId4"/>
          <a:srcRect/>
          <a:stretch/>
        </p:blipFill>
        <p:spPr>
          <a:xfrm>
            <a:off x="4639097" y="2222500"/>
            <a:ext cx="355575" cy="355575"/>
          </a:xfrm>
          <a:prstGeom prst="rect">
            <a:avLst/>
          </a:prstGeom>
        </p:spPr>
      </p:pic>
      <p:sp>
        <p:nvSpPr>
          <p:cNvPr id="10" name="Text 6"/>
          <p:cNvSpPr/>
          <p:nvPr/>
        </p:nvSpPr>
        <p:spPr>
          <a:xfrm>
            <a:off x="4639097" y="2666876"/>
            <a:ext cx="300122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Pickup fee</a:t>
            </a:r>
            <a:endParaRPr lang="en-US" sz="2000" dirty="0"/>
          </a:p>
        </p:txBody>
      </p:sp>
      <p:sp>
        <p:nvSpPr>
          <p:cNvPr id="11" name="Text 7"/>
          <p:cNvSpPr/>
          <p:nvPr/>
        </p:nvSpPr>
        <p:spPr>
          <a:xfrm>
            <a:off x="4639097" y="3060402"/>
            <a:ext cx="3001221"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A small platform fee on every completed pickup, settled in the app.</a:t>
            </a:r>
            <a:endParaRPr lang="en-US" sz="1500" dirty="0"/>
          </a:p>
        </p:txBody>
      </p:sp>
      <p:sp>
        <p:nvSpPr>
          <p:cNvPr id="12" name="Shape 8"/>
          <p:cNvSpPr/>
          <p:nvPr/>
        </p:nvSpPr>
        <p:spPr>
          <a:xfrm>
            <a:off x="7995741" y="1989162"/>
            <a:ext cx="3380358" cy="2371179"/>
          </a:xfrm>
          <a:prstGeom prst="roundRect">
            <a:avLst>
              <a:gd name="adj" fmla="val 5222"/>
            </a:avLst>
          </a:prstGeom>
          <a:solidFill>
            <a:srgbClr val="FFFDF7"/>
          </a:solidFill>
          <a:ln w="6350">
            <a:solidFill>
              <a:srgbClr val="E4E0D2"/>
            </a:solidFill>
            <a:prstDash val="solid"/>
          </a:ln>
        </p:spPr>
      </p:sp>
      <p:pic>
        <p:nvPicPr>
          <p:cNvPr id="13" name="Image 2" descr="Home"/>
          <p:cNvPicPr>
            <a:picLocks noChangeAspect="1"/>
          </p:cNvPicPr>
          <p:nvPr/>
        </p:nvPicPr>
        <p:blipFill>
          <a:blip r:embed="rId5"/>
          <a:srcRect/>
          <a:stretch/>
        </p:blipFill>
        <p:spPr>
          <a:xfrm>
            <a:off x="8229079" y="2222500"/>
            <a:ext cx="355575" cy="355575"/>
          </a:xfrm>
          <a:prstGeom prst="rect">
            <a:avLst/>
          </a:prstGeom>
        </p:spPr>
      </p:pic>
      <p:sp>
        <p:nvSpPr>
          <p:cNvPr id="14" name="Text 9"/>
          <p:cNvSpPr/>
          <p:nvPr/>
        </p:nvSpPr>
        <p:spPr>
          <a:xfrm>
            <a:off x="8229079" y="2666876"/>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Estate fee</a:t>
            </a:r>
            <a:endParaRPr lang="en-US" sz="2000" dirty="0"/>
          </a:p>
        </p:txBody>
      </p:sp>
      <p:sp>
        <p:nvSpPr>
          <p:cNvPr id="15" name="Text 10"/>
          <p:cNvSpPr/>
          <p:nvPr/>
        </p:nvSpPr>
        <p:spPr>
          <a:xfrm>
            <a:off x="8229079" y="3060402"/>
            <a:ext cx="3001093"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Gated estates and offices pay a flat fee, planned at ₦2,000 to ₦5,000, for vetted and safe pickup.</a:t>
            </a:r>
            <a:endParaRPr lang="en-US" sz="1500" dirty="0"/>
          </a:p>
        </p:txBody>
      </p:sp>
      <p:sp>
        <p:nvSpPr>
          <p:cNvPr id="16" name="Text 11"/>
          <p:cNvSpPr/>
          <p:nvPr/>
        </p:nvSpPr>
        <p:spPr>
          <a:xfrm>
            <a:off x="812726" y="4592092"/>
            <a:ext cx="10566549" cy="619497"/>
          </a:xfrm>
          <a:prstGeom prst="roundRect">
            <a:avLst>
              <a:gd name="adj" fmla="val 16400"/>
            </a:avLst>
          </a:prstGeom>
          <a:solidFill>
            <a:srgbClr val="0F2A20"/>
          </a:solidFill>
          <a:ln/>
        </p:spPr>
        <p:txBody>
          <a:bodyPr wrap="square" lIns="224242" tIns="148042" rIns="0" bIns="122642" rtlCol="0" anchor="t">
            <a:normAutofit/>
          </a:bodyPr>
          <a:lstStyle/>
          <a:p>
            <a:pPr marL="0" indent="0" algn="l">
              <a:lnSpc>
                <a:spcPts val="2080"/>
              </a:lnSpc>
              <a:buNone/>
            </a:pPr>
            <a:r>
              <a:rPr lang="en-US" sz="1600" b="1" dirty="0">
                <a:solidFill>
                  <a:srgbClr val="F7F5EE"/>
                </a:solidFill>
                <a:latin typeface="DM Sans" pitchFamily="34" charset="0"/>
                <a:ea typeface="DM Sans" pitchFamily="34" charset="-122"/>
                <a:cs typeface="DM Sans" pitchFamily="34" charset="-120"/>
              </a:rPr>
              <a:t>Households list scrap for free. Collectors use the app for free. Cash on the spot keeps adoption easy.</a:t>
            </a:r>
            <a:endParaRPr lang="en-US" sz="1600" dirty="0"/>
          </a:p>
        </p:txBody>
      </p:sp>
      <p:sp>
        <p:nvSpPr>
          <p:cNvPr id="17" name="Text 12"/>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18" name="Text 13"/>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09 · BUSINESS MODEL, PHASE 2</a:t>
            </a:r>
            <a:endParaRPr lang="en-US" sz="1200" dirty="0"/>
          </a:p>
        </p:txBody>
      </p:sp>
      <p:sp>
        <p:nvSpPr>
          <p:cNvPr id="3" name="Text 1"/>
          <p:cNvSpPr>
            <a:spLocks noGrp="1"/>
          </p:cNvSpPr>
          <p:nvPr>
            <p:ph type="title"/>
          </p:nvPr>
        </p:nvSpPr>
        <p:spPr>
          <a:xfrm>
            <a:off x="812726" y="1254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Compliance and safety for big buyers</a:t>
            </a:r>
            <a:endParaRPr lang="en-US" sz="3600" dirty="0"/>
          </a:p>
        </p:txBody>
      </p:sp>
      <p:sp>
        <p:nvSpPr>
          <p:cNvPr id="4" name="Text 2"/>
          <p:cNvSpPr/>
          <p:nvPr/>
        </p:nvSpPr>
        <p:spPr>
          <a:xfrm>
            <a:off x="812726" y="1985987"/>
            <a:ext cx="10883545"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E4A44"/>
                </a:solidFill>
                <a:latin typeface="DM Sans" pitchFamily="34" charset="0"/>
                <a:ea typeface="DM Sans" pitchFamily="34" charset="-122"/>
                <a:cs typeface="DM Sans" pitchFamily="34" charset="-120"/>
              </a:rPr>
              <a:t>Cleaners in labs, banks, hospitals and schools face the same hidden risks. Manufacturers must also prove where their waste goes.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0663" y="2791271"/>
          <a:ext cx="10558610" cy="2022326"/>
        </p:xfrm>
        <a:graphic>
          <a:graphicData uri="http://schemas.openxmlformats.org/drawingml/2006/table">
            <a:tbl>
              <a:tblPr/>
              <a:tblGrid>
                <a:gridCol w="2322894">
                  <a:extLst>
                    <a:ext uri="{9D8B030D-6E8A-4147-A177-3AD203B41FA5}">
                      <a16:colId xmlns:a16="http://schemas.microsoft.com/office/drawing/2014/main" val="20000"/>
                    </a:ext>
                  </a:extLst>
                </a:gridCol>
                <a:gridCol w="2745239">
                  <a:extLst>
                    <a:ext uri="{9D8B030D-6E8A-4147-A177-3AD203B41FA5}">
                      <a16:colId xmlns:a16="http://schemas.microsoft.com/office/drawing/2014/main" val="20001"/>
                    </a:ext>
                  </a:extLst>
                </a:gridCol>
                <a:gridCol w="3167583">
                  <a:extLst>
                    <a:ext uri="{9D8B030D-6E8A-4147-A177-3AD203B41FA5}">
                      <a16:colId xmlns:a16="http://schemas.microsoft.com/office/drawing/2014/main" val="20002"/>
                    </a:ext>
                  </a:extLst>
                </a:gridCol>
                <a:gridCol w="2322894">
                  <a:extLst>
                    <a:ext uri="{9D8B030D-6E8A-4147-A177-3AD203B41FA5}">
                      <a16:colId xmlns:a16="http://schemas.microsoft.com/office/drawing/2014/main" val="20003"/>
                    </a:ext>
                  </a:extLst>
                </a:gridCol>
              </a:tblGrid>
              <a:tr h="381124">
                <a:tc>
                  <a:txBody>
                    <a:bodyPr/>
                    <a:lstStyle/>
                    <a:p>
                      <a:pPr marL="0" indent="0">
                        <a:lnSpc>
                          <a:spcPts val="1960"/>
                        </a:lnSpc>
                        <a:buNone/>
                      </a:pPr>
                      <a:r>
                        <a:rPr lang="en-US" sz="1400" b="1" dirty="0">
                          <a:solidFill>
                            <a:srgbClr val="0F2A20"/>
                          </a:solidFill>
                          <a:latin typeface="DM Sans" pitchFamily="34" charset="0"/>
                          <a:ea typeface="DM Sans" pitchFamily="34" charset="-122"/>
                          <a:cs typeface="DM Sans" pitchFamily="34" charset="-120"/>
                        </a:rPr>
                        <a:t>Offering</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marL="0" indent="0">
                        <a:lnSpc>
                          <a:spcPts val="1960"/>
                        </a:lnSpc>
                        <a:buNone/>
                      </a:pPr>
                      <a:r>
                        <a:rPr lang="en-US" sz="1400" b="1" dirty="0">
                          <a:solidFill>
                            <a:srgbClr val="0F2A20"/>
                          </a:solidFill>
                          <a:latin typeface="DM Sans" pitchFamily="34" charset="0"/>
                          <a:ea typeface="DM Sans" pitchFamily="34" charset="-122"/>
                          <a:cs typeface="DM Sans" pitchFamily="34" charset="-120"/>
                        </a:rPr>
                        <a:t>Who pays</a:t>
                      </a:r>
                      <a:endParaRPr lang="en-US" sz="1400" dirty="0">
                        <a:latin typeface="DM Sans" charset="0"/>
                        <a:ea typeface="DM Sans" charset="0"/>
                        <a:cs typeface="DM Sans" charset="0"/>
                      </a:endParaRPr>
                    </a:p>
                  </a:txBody>
                  <a:tcPr marL="62230" marR="62230" marT="62230" marB="62230">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marL="0" indent="0">
                        <a:lnSpc>
                          <a:spcPts val="1960"/>
                        </a:lnSpc>
                        <a:buNone/>
                      </a:pPr>
                      <a:r>
                        <a:rPr lang="en-US" sz="1400" b="1" dirty="0">
                          <a:solidFill>
                            <a:srgbClr val="0F2A20"/>
                          </a:solidFill>
                          <a:latin typeface="DM Sans" pitchFamily="34" charset="0"/>
                          <a:ea typeface="DM Sans" pitchFamily="34" charset="-122"/>
                          <a:cs typeface="DM Sans" pitchFamily="34" charset="-120"/>
                        </a:rPr>
                        <a:t>What they get</a:t>
                      </a:r>
                      <a:endParaRPr lang="en-US" sz="1400" dirty="0">
                        <a:latin typeface="DM Sans" charset="0"/>
                        <a:ea typeface="DM Sans" charset="0"/>
                        <a:cs typeface="DM Sans" charset="0"/>
                      </a:endParaRPr>
                    </a:p>
                  </a:txBody>
                  <a:tcPr marL="62230" marR="62230" marT="62230" marB="62230">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marL="0" indent="0">
                        <a:lnSpc>
                          <a:spcPts val="1960"/>
                        </a:lnSpc>
                        <a:buNone/>
                      </a:pPr>
                      <a:r>
                        <a:rPr lang="en-US" sz="1400" b="1" dirty="0">
                          <a:solidFill>
                            <a:srgbClr val="17794A"/>
                          </a:solidFill>
                          <a:latin typeface="DM Sans" pitchFamily="34" charset="0"/>
                          <a:ea typeface="DM Sans" pitchFamily="34" charset="-122"/>
                          <a:cs typeface="DM Sans" pitchFamily="34" charset="-120"/>
                        </a:rPr>
                        <a:t>Planned price</a:t>
                      </a:r>
                      <a:endParaRPr lang="en-US" sz="1400" dirty="0">
                        <a:latin typeface="DM Sans" charset="0"/>
                        <a:ea typeface="DM Sans" charset="0"/>
                        <a:cs typeface="DM Sans" charset="0"/>
                      </a:endParaRPr>
                    </a:p>
                  </a:txBody>
                  <a:tcPr marL="62230" marR="62230" marT="62230" marB="62230">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extLst>
                  <a:ext uri="{0D108BD9-81ED-4DB2-BD59-A6C34878D82A}">
                    <a16:rowId xmlns:a16="http://schemas.microsoft.com/office/drawing/2014/main" val="10000"/>
                  </a:ext>
                </a:extLst>
              </a:tr>
              <a:tr h="630039">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Compliance dashboard</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Manufacturers under NESREA rules</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Auditable record of every collection</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Annual fee</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1"/>
                  </a:ext>
                </a:extLst>
              </a:tr>
              <a:tr h="381124">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E-Bangle wristband</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Banks, schools, hospitals</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Sensor alerts for cleaning staff</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$40 to $60 each</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2"/>
                  </a:ext>
                </a:extLst>
              </a:tr>
              <a:tr h="630039">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E-Bangle software</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Same buyers</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Safety dashboard and live alerts</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marL="0" indent="0">
                        <a:lnSpc>
                          <a:spcPts val="1960"/>
                        </a:lnSpc>
                        <a:buNone/>
                      </a:pPr>
                      <a:r>
                        <a:rPr lang="en-US" sz="1400" dirty="0">
                          <a:solidFill>
                            <a:srgbClr val="3E4A44"/>
                          </a:solidFill>
                          <a:latin typeface="DM Sans" pitchFamily="34" charset="0"/>
                          <a:ea typeface="DM Sans" pitchFamily="34" charset="-122"/>
                          <a:cs typeface="DM Sans" pitchFamily="34" charset="-120"/>
                        </a:rPr>
                        <a:t>₦10,000 per device a month</a:t>
                      </a:r>
                      <a:endParaRPr lang="en-US" sz="1400" dirty="0">
                        <a:latin typeface="DM Sans" charset="0"/>
                        <a:ea typeface="DM Sans" charset="0"/>
                        <a:cs typeface="DM Sans" charset="0"/>
                      </a:endParaRPr>
                    </a:p>
                  </a:txBody>
                  <a:tcPr marL="62230" marR="62230" marT="62230" marB="62230">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7" name="Text 4"/>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20"/>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72C"/>
                </a:solidFill>
                <a:latin typeface="DM Sans" pitchFamily="34" charset="0"/>
                <a:ea typeface="DM Sans" pitchFamily="34" charset="-122"/>
                <a:cs typeface="DM Sans" pitchFamily="34" charset="-120"/>
              </a:rPr>
              <a:t>10 · WHY THIS FITS MTN</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EE"/>
                </a:solidFill>
                <a:latin typeface="DM Sans" pitchFamily="34" charset="0"/>
                <a:ea typeface="DM Sans" pitchFamily="34" charset="-122"/>
                <a:cs typeface="DM Sans" pitchFamily="34" charset="-120"/>
              </a:rPr>
              <a:t>Every collector is a future MTN customer</a:t>
            </a:r>
            <a:endParaRPr lang="en-US" sz="3600" dirty="0"/>
          </a:p>
        </p:txBody>
      </p:sp>
      <p:sp>
        <p:nvSpPr>
          <p:cNvPr id="4" name="Shape 2"/>
          <p:cNvSpPr/>
          <p:nvPr/>
        </p:nvSpPr>
        <p:spPr>
          <a:xfrm>
            <a:off x="815901" y="2040012"/>
            <a:ext cx="3380358" cy="2371179"/>
          </a:xfrm>
          <a:prstGeom prst="roundRect">
            <a:avLst>
              <a:gd name="adj" fmla="val 5222"/>
            </a:avLst>
          </a:prstGeom>
          <a:solidFill>
            <a:srgbClr val="17382B"/>
          </a:solidFill>
          <a:ln w="6350">
            <a:solidFill>
              <a:srgbClr val="2A5242"/>
            </a:solidFill>
            <a:prstDash val="solid"/>
          </a:ln>
        </p:spPr>
      </p:sp>
      <p:pic>
        <p:nvPicPr>
          <p:cNvPr id="5" name="Image 0" descr="Lightning"/>
          <p:cNvPicPr>
            <a:picLocks noChangeAspect="1"/>
          </p:cNvPicPr>
          <p:nvPr/>
        </p:nvPicPr>
        <p:blipFill>
          <a:blip r:embed="rId3"/>
          <a:srcRect/>
          <a:stretch/>
        </p:blipFill>
        <p:spPr>
          <a:xfrm>
            <a:off x="1049238" y="2273350"/>
            <a:ext cx="355575" cy="355575"/>
          </a:xfrm>
          <a:prstGeom prst="rect">
            <a:avLst/>
          </a:prstGeom>
        </p:spPr>
      </p:pic>
      <p:sp>
        <p:nvSpPr>
          <p:cNvPr id="6" name="Text 3"/>
          <p:cNvSpPr/>
          <p:nvPr/>
        </p:nvSpPr>
        <p:spPr>
          <a:xfrm>
            <a:off x="1049238" y="2717726"/>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MoMo payouts</a:t>
            </a:r>
            <a:endParaRPr lang="en-US" sz="2000" dirty="0"/>
          </a:p>
        </p:txBody>
      </p:sp>
      <p:sp>
        <p:nvSpPr>
          <p:cNvPr id="7" name="Text 4"/>
          <p:cNvSpPr/>
          <p:nvPr/>
        </p:nvSpPr>
        <p:spPr>
          <a:xfrm>
            <a:off x="1049238" y="3111252"/>
            <a:ext cx="3001093"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Collectors are paid in cash today. We plan a small bonus for MoMo payouts, moving cash workers onto MoMo wallets.</a:t>
            </a:r>
            <a:endParaRPr lang="en-US" sz="1500" dirty="0"/>
          </a:p>
        </p:txBody>
      </p:sp>
      <p:sp>
        <p:nvSpPr>
          <p:cNvPr id="8" name="Shape 5"/>
          <p:cNvSpPr/>
          <p:nvPr/>
        </p:nvSpPr>
        <p:spPr>
          <a:xfrm>
            <a:off x="4405759" y="2040012"/>
            <a:ext cx="3380482" cy="2371179"/>
          </a:xfrm>
          <a:prstGeom prst="roundRect">
            <a:avLst>
              <a:gd name="adj" fmla="val 5222"/>
            </a:avLst>
          </a:prstGeom>
          <a:solidFill>
            <a:srgbClr val="17382B"/>
          </a:solidFill>
          <a:ln w="6350">
            <a:solidFill>
              <a:srgbClr val="2A5242"/>
            </a:solidFill>
            <a:prstDash val="solid"/>
          </a:ln>
        </p:spPr>
      </p:sp>
      <p:pic>
        <p:nvPicPr>
          <p:cNvPr id="9" name="Image 1" descr="Users"/>
          <p:cNvPicPr>
            <a:picLocks noChangeAspect="1"/>
          </p:cNvPicPr>
          <p:nvPr/>
        </p:nvPicPr>
        <p:blipFill>
          <a:blip r:embed="rId4"/>
          <a:srcRect/>
          <a:stretch/>
        </p:blipFill>
        <p:spPr>
          <a:xfrm>
            <a:off x="4639097" y="2273350"/>
            <a:ext cx="355575" cy="355575"/>
          </a:xfrm>
          <a:prstGeom prst="rect">
            <a:avLst/>
          </a:prstGeom>
        </p:spPr>
      </p:pic>
      <p:sp>
        <p:nvSpPr>
          <p:cNvPr id="10" name="Text 6"/>
          <p:cNvSpPr/>
          <p:nvPr/>
        </p:nvSpPr>
        <p:spPr>
          <a:xfrm>
            <a:off x="4639097" y="2717726"/>
            <a:ext cx="300122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New data users</a:t>
            </a:r>
            <a:endParaRPr lang="en-US" sz="2000" dirty="0"/>
          </a:p>
        </p:txBody>
      </p:sp>
      <p:sp>
        <p:nvSpPr>
          <p:cNvPr id="11" name="Text 7"/>
          <p:cNvSpPr/>
          <p:nvPr/>
        </p:nvSpPr>
        <p:spPr>
          <a:xfrm>
            <a:off x="4639097" y="3111252"/>
            <a:ext cx="3001221"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Voice guidance gives low-literacy workers a clear reason to use a smartphone and buy data.</a:t>
            </a:r>
            <a:endParaRPr lang="en-US" sz="1500" dirty="0"/>
          </a:p>
        </p:txBody>
      </p:sp>
      <p:sp>
        <p:nvSpPr>
          <p:cNvPr id="12" name="Shape 8"/>
          <p:cNvSpPr/>
          <p:nvPr/>
        </p:nvSpPr>
        <p:spPr>
          <a:xfrm>
            <a:off x="7995741" y="2040012"/>
            <a:ext cx="3380358" cy="2371179"/>
          </a:xfrm>
          <a:prstGeom prst="roundRect">
            <a:avLst>
              <a:gd name="adj" fmla="val 5222"/>
            </a:avLst>
          </a:prstGeom>
          <a:solidFill>
            <a:srgbClr val="17382B"/>
          </a:solidFill>
          <a:ln w="6350">
            <a:solidFill>
              <a:srgbClr val="2A5242"/>
            </a:solidFill>
            <a:prstDash val="solid"/>
          </a:ln>
        </p:spPr>
      </p:sp>
      <p:pic>
        <p:nvPicPr>
          <p:cNvPr id="13" name="Image 2" descr="Link"/>
          <p:cNvPicPr>
            <a:picLocks noChangeAspect="1"/>
          </p:cNvPicPr>
          <p:nvPr/>
        </p:nvPicPr>
        <p:blipFill>
          <a:blip r:embed="rId5"/>
          <a:srcRect/>
          <a:stretch/>
        </p:blipFill>
        <p:spPr>
          <a:xfrm>
            <a:off x="8229079" y="2273350"/>
            <a:ext cx="355575" cy="355575"/>
          </a:xfrm>
          <a:prstGeom prst="rect">
            <a:avLst/>
          </a:prstGeom>
        </p:spPr>
      </p:pic>
      <p:sp>
        <p:nvSpPr>
          <p:cNvPr id="14" name="Text 9"/>
          <p:cNvSpPr/>
          <p:nvPr/>
        </p:nvSpPr>
        <p:spPr>
          <a:xfrm>
            <a:off x="8229079" y="2717726"/>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E"/>
                </a:solidFill>
                <a:latin typeface="DM Sans" pitchFamily="34" charset="0"/>
                <a:ea typeface="DM Sans" pitchFamily="34" charset="-122"/>
                <a:cs typeface="DM Sans" pitchFamily="34" charset="-120"/>
              </a:rPr>
              <a:t>USSD, SMS and IoT</a:t>
            </a:r>
            <a:endParaRPr lang="en-US" sz="2000" dirty="0"/>
          </a:p>
        </p:txBody>
      </p:sp>
      <p:sp>
        <p:nvSpPr>
          <p:cNvPr id="15" name="Text 10"/>
          <p:cNvSpPr/>
          <p:nvPr/>
        </p:nvSpPr>
        <p:spPr>
          <a:xfrm>
            <a:off x="8229079" y="3111252"/>
            <a:ext cx="3001093" cy="109200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Feature phones join through USSD and SMS. Future E-Bangles would sync over MTN business IoT SIMs.</a:t>
            </a:r>
            <a:endParaRPr lang="en-US" sz="1500" dirty="0"/>
          </a:p>
        </p:txBody>
      </p:sp>
      <p:sp>
        <p:nvSpPr>
          <p:cNvPr id="16" name="Text 11"/>
          <p:cNvSpPr/>
          <p:nvPr/>
        </p:nvSpPr>
        <p:spPr>
          <a:xfrm>
            <a:off x="812726" y="4668366"/>
            <a:ext cx="10566549" cy="619497"/>
          </a:xfrm>
          <a:prstGeom prst="roundRect">
            <a:avLst>
              <a:gd name="adj" fmla="val 16400"/>
            </a:avLst>
          </a:prstGeom>
          <a:solidFill>
            <a:srgbClr val="FFC72C"/>
          </a:solidFill>
          <a:ln/>
        </p:spPr>
        <p:txBody>
          <a:bodyPr wrap="square" lIns="224242" tIns="148042" rIns="0" bIns="122642" rtlCol="0" anchor="t">
            <a:normAutofit/>
          </a:bodyPr>
          <a:lstStyle/>
          <a:p>
            <a:pPr marL="0" indent="0" algn="l">
              <a:lnSpc>
                <a:spcPts val="2080"/>
              </a:lnSpc>
              <a:buNone/>
            </a:pPr>
            <a:r>
              <a:rPr lang="en-US" sz="1600" b="1" dirty="0">
                <a:solidFill>
                  <a:srgbClr val="0F2A20"/>
                </a:solidFill>
                <a:latin typeface="DM Sans" pitchFamily="34" charset="0"/>
                <a:ea typeface="DM Sans" pitchFamily="34" charset="-122"/>
                <a:cs typeface="DM Sans" pitchFamily="34" charset="-120"/>
              </a:rPr>
              <a:t>Each collector we reach is a possible SIM, data user and MoMo wallet.</a:t>
            </a:r>
            <a:endParaRPr lang="en-US" sz="1600" dirty="0"/>
          </a:p>
        </p:txBody>
      </p:sp>
      <p:sp>
        <p:nvSpPr>
          <p:cNvPr id="17" name="Text 12"/>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CC2"/>
                </a:solidFill>
                <a:latin typeface="DM Sans" pitchFamily="34" charset="0"/>
                <a:ea typeface="DM Sans" pitchFamily="34" charset="-122"/>
                <a:cs typeface="DM Sans" pitchFamily="34" charset="-120"/>
              </a:rPr>
              <a:t>InteliScrap AI · MTN PachiPanda Challenge 2026</a:t>
            </a:r>
            <a:endParaRPr lang="en-US" sz="1200" dirty="0"/>
          </a:p>
        </p:txBody>
      </p:sp>
      <p:sp>
        <p:nvSpPr>
          <p:cNvPr id="18" name="Text 13"/>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CC2"/>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11 · ROADMAP</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From prototype to pilot to scale</a:t>
            </a:r>
            <a:endParaRPr lang="en-US" sz="3600" dirty="0"/>
          </a:p>
        </p:txBody>
      </p:sp>
      <p:sp>
        <p:nvSpPr>
          <p:cNvPr id="4" name="Shape 2"/>
          <p:cNvSpPr/>
          <p:nvPr/>
        </p:nvSpPr>
        <p:spPr>
          <a:xfrm>
            <a:off x="812726" y="2036837"/>
            <a:ext cx="3376166" cy="1945928"/>
          </a:xfrm>
          <a:prstGeom prst="roundRect">
            <a:avLst>
              <a:gd name="adj" fmla="val 6526"/>
            </a:avLst>
          </a:prstGeom>
          <a:solidFill>
            <a:srgbClr val="0F2A20"/>
          </a:solidFill>
          <a:ln/>
        </p:spPr>
      </p:sp>
      <p:sp>
        <p:nvSpPr>
          <p:cNvPr id="5" name="Text 3"/>
          <p:cNvSpPr/>
          <p:nvPr/>
        </p:nvSpPr>
        <p:spPr>
          <a:xfrm>
            <a:off x="1041301" y="2265412"/>
            <a:ext cx="3006586"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C72C"/>
                </a:solidFill>
                <a:latin typeface="DM Sans" pitchFamily="34" charset="0"/>
                <a:ea typeface="DM Sans" pitchFamily="34" charset="-122"/>
                <a:cs typeface="DM Sans" pitchFamily="34" charset="-120"/>
              </a:rPr>
              <a:t>Now · Oct 2026</a:t>
            </a:r>
            <a:endParaRPr lang="en-US" sz="2000" dirty="0"/>
          </a:p>
        </p:txBody>
      </p:sp>
      <p:sp>
        <p:nvSpPr>
          <p:cNvPr id="6" name="Text 4"/>
          <p:cNvSpPr/>
          <p:nvPr/>
        </p:nvSpPr>
        <p:spPr>
          <a:xfrm>
            <a:off x="1112421" y="2671713"/>
            <a:ext cx="2927846" cy="825351"/>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D5E3DB"/>
                </a:solidFill>
                <a:latin typeface="DM Sans" pitchFamily="34" charset="0"/>
                <a:ea typeface="DM Sans" pitchFamily="34" charset="-122"/>
                <a:cs typeface="DM Sans" pitchFamily="34" charset="-120"/>
              </a:rPr>
              <a:t>Working prototype</a:t>
            </a:r>
            <a:endParaRPr lang="en-US" sz="1500" dirty="0"/>
          </a:p>
          <a:p>
            <a:pPr marL="182880" indent="-182880" algn="l">
              <a:lnSpc>
                <a:spcPts val="2100"/>
              </a:lnSpc>
              <a:buSzPct val="100000"/>
              <a:buChar char="•"/>
            </a:pPr>
            <a:r>
              <a:rPr lang="en-US" sz="1500" dirty="0">
                <a:solidFill>
                  <a:srgbClr val="D5E3DB"/>
                </a:solidFill>
                <a:latin typeface="DM Sans" pitchFamily="34" charset="0"/>
                <a:ea typeface="DM Sans" pitchFamily="34" charset="-122"/>
                <a:cs typeface="DM Sans" pitchFamily="34" charset="-120"/>
              </a:rPr>
              <a:t>Hausa and Pidgin voice</a:t>
            </a:r>
            <a:endParaRPr lang="en-US" sz="1500" dirty="0"/>
          </a:p>
          <a:p>
            <a:pPr marL="182880" indent="-182880" algn="l">
              <a:lnSpc>
                <a:spcPts val="2100"/>
              </a:lnSpc>
              <a:buSzPct val="100000"/>
              <a:buChar char="•"/>
            </a:pPr>
            <a:r>
              <a:rPr lang="en-US" sz="1500" dirty="0">
                <a:solidFill>
                  <a:srgbClr val="D5E3DB"/>
                </a:solidFill>
                <a:latin typeface="DM Sans" pitchFamily="34" charset="0"/>
                <a:ea typeface="DM Sans" pitchFamily="34" charset="-122"/>
                <a:cs typeface="DM Sans" pitchFamily="34" charset="-120"/>
              </a:rPr>
              <a:t>USSD sign-up in Zaria</a:t>
            </a:r>
            <a:endParaRPr lang="en-US" sz="1500" dirty="0"/>
          </a:p>
        </p:txBody>
      </p:sp>
      <p:sp>
        <p:nvSpPr>
          <p:cNvPr id="7" name="Shape 5"/>
          <p:cNvSpPr/>
          <p:nvPr/>
        </p:nvSpPr>
        <p:spPr>
          <a:xfrm>
            <a:off x="4398392" y="2043187"/>
            <a:ext cx="3379341" cy="1933228"/>
          </a:xfrm>
          <a:prstGeom prst="roundRect">
            <a:avLst>
              <a:gd name="adj" fmla="val 6241"/>
            </a:avLst>
          </a:prstGeom>
          <a:solidFill>
            <a:srgbClr val="FFFDF7"/>
          </a:solidFill>
          <a:ln w="12700">
            <a:solidFill>
              <a:srgbClr val="17794A"/>
            </a:solidFill>
            <a:prstDash val="solid"/>
          </a:ln>
        </p:spPr>
      </p:sp>
      <p:sp>
        <p:nvSpPr>
          <p:cNvPr id="8" name="Text 6"/>
          <p:cNvSpPr/>
          <p:nvPr/>
        </p:nvSpPr>
        <p:spPr>
          <a:xfrm>
            <a:off x="4628555" y="2273350"/>
            <a:ext cx="3006586"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794A"/>
                </a:solidFill>
                <a:latin typeface="DM Sans" pitchFamily="34" charset="0"/>
                <a:ea typeface="DM Sans" pitchFamily="34" charset="-122"/>
                <a:cs typeface="DM Sans" pitchFamily="34" charset="-120"/>
              </a:rPr>
              <a:t>Next · by mid-2027</a:t>
            </a:r>
            <a:endParaRPr lang="en-US" sz="2000" dirty="0"/>
          </a:p>
        </p:txBody>
      </p:sp>
      <p:sp>
        <p:nvSpPr>
          <p:cNvPr id="9" name="Text 7"/>
          <p:cNvSpPr/>
          <p:nvPr/>
        </p:nvSpPr>
        <p:spPr>
          <a:xfrm>
            <a:off x="4699675" y="2679650"/>
            <a:ext cx="2927846" cy="1092002"/>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Train on local scrap photos</a:t>
            </a:r>
            <a:endParaRPr lang="en-US" sz="1500" dirty="0"/>
          </a:p>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Add Yoruba and Igbo voice</a:t>
            </a:r>
            <a:endParaRPr lang="en-US" sz="1500" dirty="0"/>
          </a:p>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Pilot with collectors and hubs</a:t>
            </a:r>
            <a:endParaRPr lang="en-US" sz="1500" dirty="0"/>
          </a:p>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Test MoMo payouts</a:t>
            </a:r>
            <a:endParaRPr lang="en-US" sz="1500" dirty="0"/>
          </a:p>
        </p:txBody>
      </p:sp>
      <p:sp>
        <p:nvSpPr>
          <p:cNvPr id="10" name="Shape 8"/>
          <p:cNvSpPr/>
          <p:nvPr/>
        </p:nvSpPr>
        <p:spPr>
          <a:xfrm>
            <a:off x="7990408" y="2040012"/>
            <a:ext cx="3385691" cy="1939578"/>
          </a:xfrm>
          <a:prstGeom prst="roundRect">
            <a:avLst>
              <a:gd name="adj" fmla="val 6384"/>
            </a:avLst>
          </a:prstGeom>
          <a:solidFill>
            <a:srgbClr val="FFFDF7"/>
          </a:solidFill>
          <a:ln w="6350">
            <a:solidFill>
              <a:srgbClr val="E4E0D2"/>
            </a:solidFill>
            <a:prstDash val="solid"/>
          </a:ln>
        </p:spPr>
      </p:sp>
      <p:sp>
        <p:nvSpPr>
          <p:cNvPr id="11" name="Text 9"/>
          <p:cNvSpPr/>
          <p:nvPr/>
        </p:nvSpPr>
        <p:spPr>
          <a:xfrm>
            <a:off x="8223746" y="2273350"/>
            <a:ext cx="3006586"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Later · 2027 to 2028</a:t>
            </a:r>
            <a:endParaRPr lang="en-US" sz="2000" dirty="0"/>
          </a:p>
        </p:txBody>
      </p:sp>
      <p:sp>
        <p:nvSpPr>
          <p:cNvPr id="12" name="Text 10"/>
          <p:cNvSpPr/>
          <p:nvPr/>
        </p:nvSpPr>
        <p:spPr>
          <a:xfrm>
            <a:off x="8294866" y="2679650"/>
            <a:ext cx="2927846" cy="1092002"/>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Compliance dashboard for manufacturers</a:t>
            </a:r>
            <a:endParaRPr lang="en-US" sz="1500" dirty="0"/>
          </a:p>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More cities across the north</a:t>
            </a:r>
            <a:endParaRPr lang="en-US" sz="1500" dirty="0"/>
          </a:p>
          <a:p>
            <a:pPr marL="182880" indent="-182880" algn="l">
              <a:lnSpc>
                <a:spcPts val="2100"/>
              </a:lnSpc>
              <a:buSzPct val="100000"/>
              <a:buChar char="•"/>
            </a:pPr>
            <a:r>
              <a:rPr lang="en-US" sz="1500" dirty="0">
                <a:solidFill>
                  <a:srgbClr val="3E4A44"/>
                </a:solidFill>
                <a:latin typeface="DM Sans" pitchFamily="34" charset="0"/>
                <a:ea typeface="DM Sans" pitchFamily="34" charset="-122"/>
                <a:cs typeface="DM Sans" pitchFamily="34" charset="-120"/>
              </a:rPr>
              <a:t>E-Bangle for cleaning staff</a:t>
            </a:r>
            <a:endParaRPr lang="en-US" sz="1500" dirty="0"/>
          </a:p>
        </p:txBody>
      </p:sp>
      <p:sp>
        <p:nvSpPr>
          <p:cNvPr id="13" name="Text 11"/>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14" name="Text 12"/>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94A"/>
                </a:solidFill>
                <a:latin typeface="DM Sans" pitchFamily="34" charset="0"/>
                <a:ea typeface="DM Sans" pitchFamily="34" charset="-122"/>
                <a:cs typeface="DM Sans" pitchFamily="34" charset="-120"/>
              </a:rPr>
              <a:t>12 · TEAM NEXUS</a:t>
            </a:r>
            <a:endParaRPr lang="en-US" sz="1200" dirty="0"/>
          </a:p>
        </p:txBody>
      </p:sp>
      <p:sp>
        <p:nvSpPr>
          <p:cNvPr id="3" name="Text 1"/>
          <p:cNvSpPr>
            <a:spLocks noGrp="1"/>
          </p:cNvSpPr>
          <p:nvPr>
            <p:ph type="title"/>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2A20"/>
                </a:solidFill>
                <a:latin typeface="DM Sans" pitchFamily="34" charset="0"/>
                <a:ea typeface="DM Sans" pitchFamily="34" charset="-122"/>
                <a:cs typeface="DM Sans" pitchFamily="34" charset="-120"/>
              </a:rPr>
              <a:t>Three builders, one working product</a:t>
            </a:r>
            <a:endParaRPr lang="en-US" sz="3600" dirty="0"/>
          </a:p>
        </p:txBody>
      </p:sp>
      <p:sp>
        <p:nvSpPr>
          <p:cNvPr id="4" name="Shape 2"/>
          <p:cNvSpPr/>
          <p:nvPr/>
        </p:nvSpPr>
        <p:spPr>
          <a:xfrm>
            <a:off x="815901" y="2040012"/>
            <a:ext cx="3380358" cy="2071415"/>
          </a:xfrm>
          <a:prstGeom prst="roundRect">
            <a:avLst>
              <a:gd name="adj" fmla="val 5978"/>
            </a:avLst>
          </a:prstGeom>
          <a:solidFill>
            <a:srgbClr val="FFFDF7"/>
          </a:solidFill>
          <a:ln w="6350">
            <a:solidFill>
              <a:srgbClr val="E4E0D2"/>
            </a:solidFill>
            <a:prstDash val="solid"/>
          </a:ln>
        </p:spPr>
      </p:sp>
      <p:sp>
        <p:nvSpPr>
          <p:cNvPr id="5" name="Text 3"/>
          <p:cNvSpPr/>
          <p:nvPr/>
        </p:nvSpPr>
        <p:spPr>
          <a:xfrm>
            <a:off x="1049238" y="2273350"/>
            <a:ext cx="3143845"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Backend and database</a:t>
            </a:r>
            <a:endParaRPr lang="en-US" sz="2000" dirty="0"/>
          </a:p>
        </p:txBody>
      </p:sp>
      <p:sp>
        <p:nvSpPr>
          <p:cNvPr id="6" name="Text 4"/>
          <p:cNvSpPr/>
          <p:nvPr/>
        </p:nvSpPr>
        <p:spPr>
          <a:xfrm>
            <a:off x="1049238" y="2666876"/>
            <a:ext cx="3001093"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APIs, pickup matching, USSD and SMS.</a:t>
            </a:r>
            <a:endParaRPr lang="en-US" sz="1500" dirty="0"/>
          </a:p>
        </p:txBody>
      </p:sp>
      <p:sp>
        <p:nvSpPr>
          <p:cNvPr id="7" name="Text 5"/>
          <p:cNvSpPr/>
          <p:nvPr/>
        </p:nvSpPr>
        <p:spPr>
          <a:xfrm>
            <a:off x="1049238" y="3288978"/>
            <a:ext cx="300109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794A"/>
                </a:solidFill>
                <a:latin typeface="DM Sans" pitchFamily="34" charset="0"/>
                <a:ea typeface="DM Sans" pitchFamily="34" charset="-122"/>
                <a:cs typeface="DM Sans" pitchFamily="34" charset="-120"/>
              </a:rPr>
              <a:t>[Name]</a:t>
            </a:r>
            <a:endParaRPr lang="en-US" sz="1600" dirty="0"/>
          </a:p>
        </p:txBody>
      </p:sp>
      <p:sp>
        <p:nvSpPr>
          <p:cNvPr id="8" name="Shape 6"/>
          <p:cNvSpPr/>
          <p:nvPr/>
        </p:nvSpPr>
        <p:spPr>
          <a:xfrm>
            <a:off x="4405759" y="2040012"/>
            <a:ext cx="3380482" cy="2071415"/>
          </a:xfrm>
          <a:prstGeom prst="roundRect">
            <a:avLst>
              <a:gd name="adj" fmla="val 5978"/>
            </a:avLst>
          </a:prstGeom>
          <a:solidFill>
            <a:srgbClr val="FFFDF7"/>
          </a:solidFill>
          <a:ln w="6350">
            <a:solidFill>
              <a:srgbClr val="E4E0D2"/>
            </a:solidFill>
            <a:prstDash val="solid"/>
          </a:ln>
        </p:spPr>
      </p:sp>
      <p:sp>
        <p:nvSpPr>
          <p:cNvPr id="9" name="Text 7"/>
          <p:cNvSpPr/>
          <p:nvPr/>
        </p:nvSpPr>
        <p:spPr>
          <a:xfrm>
            <a:off x="4639097" y="2273350"/>
            <a:ext cx="300122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Frontend and voice</a:t>
            </a:r>
            <a:endParaRPr lang="en-US" sz="2000" dirty="0"/>
          </a:p>
        </p:txBody>
      </p:sp>
      <p:sp>
        <p:nvSpPr>
          <p:cNvPr id="10" name="Text 8"/>
          <p:cNvSpPr/>
          <p:nvPr/>
        </p:nvSpPr>
        <p:spPr>
          <a:xfrm>
            <a:off x="4639097" y="2666876"/>
            <a:ext cx="3001221"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Offline app, camera, dashboards and the Hausa and Pidgin voice guide.</a:t>
            </a:r>
            <a:endParaRPr lang="en-US" sz="1500" dirty="0"/>
          </a:p>
        </p:txBody>
      </p:sp>
      <p:sp>
        <p:nvSpPr>
          <p:cNvPr id="11" name="Text 9"/>
          <p:cNvSpPr/>
          <p:nvPr/>
        </p:nvSpPr>
        <p:spPr>
          <a:xfrm>
            <a:off x="4639097" y="3555628"/>
            <a:ext cx="3001221"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794A"/>
                </a:solidFill>
                <a:latin typeface="DM Sans" pitchFamily="34" charset="0"/>
                <a:ea typeface="DM Sans" pitchFamily="34" charset="-122"/>
                <a:cs typeface="DM Sans" pitchFamily="34" charset="-120"/>
              </a:rPr>
              <a:t>[Name]</a:t>
            </a:r>
            <a:endParaRPr lang="en-US" sz="1600" dirty="0"/>
          </a:p>
        </p:txBody>
      </p:sp>
      <p:sp>
        <p:nvSpPr>
          <p:cNvPr id="12" name="Shape 10"/>
          <p:cNvSpPr/>
          <p:nvPr/>
        </p:nvSpPr>
        <p:spPr>
          <a:xfrm>
            <a:off x="7995741" y="2040012"/>
            <a:ext cx="3380358" cy="2071415"/>
          </a:xfrm>
          <a:prstGeom prst="roundRect">
            <a:avLst>
              <a:gd name="adj" fmla="val 5978"/>
            </a:avLst>
          </a:prstGeom>
          <a:solidFill>
            <a:srgbClr val="FFFDF7"/>
          </a:solidFill>
          <a:ln w="6350">
            <a:solidFill>
              <a:srgbClr val="E4E0D2"/>
            </a:solidFill>
            <a:prstDash val="solid"/>
          </a:ln>
        </p:spPr>
      </p:sp>
      <p:sp>
        <p:nvSpPr>
          <p:cNvPr id="13" name="Text 11"/>
          <p:cNvSpPr/>
          <p:nvPr/>
        </p:nvSpPr>
        <p:spPr>
          <a:xfrm>
            <a:off x="8229079" y="2273350"/>
            <a:ext cx="3001093" cy="634851"/>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0"/>
                </a:solidFill>
                <a:latin typeface="DM Sans" pitchFamily="34" charset="0"/>
                <a:ea typeface="DM Sans" pitchFamily="34" charset="-122"/>
                <a:cs typeface="DM Sans" pitchFamily="34" charset="-120"/>
              </a:rPr>
              <a:t>Edge AI, QA and DevOps</a:t>
            </a:r>
            <a:endParaRPr lang="en-US" sz="2000" dirty="0"/>
          </a:p>
        </p:txBody>
      </p:sp>
      <p:sp>
        <p:nvSpPr>
          <p:cNvPr id="14" name="Text 12"/>
          <p:cNvSpPr/>
          <p:nvPr/>
        </p:nvSpPr>
        <p:spPr>
          <a:xfrm>
            <a:off x="8229079" y="2971602"/>
            <a:ext cx="3001093"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44"/>
                </a:solidFill>
                <a:latin typeface="DM Sans" pitchFamily="34" charset="0"/>
                <a:ea typeface="DM Sans" pitchFamily="34" charset="-122"/>
                <a:cs typeface="DM Sans" pitchFamily="34" charset="-120"/>
              </a:rPr>
              <a:t>The on-device scrap classifier, tests, sync and deployment.</a:t>
            </a:r>
            <a:endParaRPr lang="en-US" sz="1500" dirty="0"/>
          </a:p>
        </p:txBody>
      </p:sp>
      <p:sp>
        <p:nvSpPr>
          <p:cNvPr id="15" name="Text 13"/>
          <p:cNvSpPr/>
          <p:nvPr/>
        </p:nvSpPr>
        <p:spPr>
          <a:xfrm>
            <a:off x="8229079" y="3593703"/>
            <a:ext cx="300109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794A"/>
                </a:solidFill>
                <a:latin typeface="DM Sans" pitchFamily="34" charset="0"/>
                <a:ea typeface="DM Sans" pitchFamily="34" charset="-122"/>
                <a:cs typeface="DM Sans" pitchFamily="34" charset="-120"/>
              </a:rPr>
              <a:t>[Name]</a:t>
            </a:r>
            <a:endParaRPr lang="en-US" sz="1600" dirty="0"/>
          </a:p>
        </p:txBody>
      </p:sp>
      <p:sp>
        <p:nvSpPr>
          <p:cNvPr id="16" name="Text 14"/>
          <p:cNvSpPr/>
          <p:nvPr/>
        </p:nvSpPr>
        <p:spPr>
          <a:xfrm>
            <a:off x="812726" y="4368602"/>
            <a:ext cx="10566549" cy="619497"/>
          </a:xfrm>
          <a:prstGeom prst="roundRect">
            <a:avLst>
              <a:gd name="adj" fmla="val 16400"/>
            </a:avLst>
          </a:prstGeom>
          <a:solidFill>
            <a:srgbClr val="0F2A20"/>
          </a:solidFill>
          <a:ln/>
        </p:spPr>
        <p:txBody>
          <a:bodyPr wrap="square" lIns="224242" tIns="148042" rIns="0" bIns="122642" rtlCol="0" anchor="t">
            <a:normAutofit/>
          </a:bodyPr>
          <a:lstStyle/>
          <a:p>
            <a:pPr marL="0" indent="0" algn="l">
              <a:lnSpc>
                <a:spcPts val="2080"/>
              </a:lnSpc>
              <a:buNone/>
            </a:pPr>
            <a:r>
              <a:rPr lang="en-US" sz="1600" b="1" dirty="0">
                <a:solidFill>
                  <a:srgbClr val="F7F5EE"/>
                </a:solidFill>
                <a:latin typeface="DM Sans" pitchFamily="34" charset="0"/>
                <a:ea typeface="DM Sans" pitchFamily="34" charset="-122"/>
                <a:cs typeface="DM Sans" pitchFamily="34" charset="-120"/>
              </a:rPr>
              <a:t>We built the whole loop ourselves: app, AI, voice, backend and tests.</a:t>
            </a:r>
            <a:endParaRPr lang="en-US" sz="1600" dirty="0"/>
          </a:p>
        </p:txBody>
      </p:sp>
      <p:sp>
        <p:nvSpPr>
          <p:cNvPr id="17" name="Text 15"/>
          <p:cNvSpPr/>
          <p:nvPr/>
        </p:nvSpPr>
        <p:spPr>
          <a:xfrm>
            <a:off x="812726" y="6238379"/>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862"/>
                </a:solidFill>
                <a:latin typeface="DM Sans" pitchFamily="34" charset="0"/>
                <a:ea typeface="DM Sans" pitchFamily="34" charset="-122"/>
                <a:cs typeface="DM Sans" pitchFamily="34" charset="-120"/>
              </a:rPr>
              <a:t>InteliScrap AI · MTN PachiPanda Challenge 2026</a:t>
            </a:r>
            <a:endParaRPr lang="en-US" sz="1200" dirty="0"/>
          </a:p>
        </p:txBody>
      </p:sp>
      <p:sp>
        <p:nvSpPr>
          <p:cNvPr id="18" name="Text 16"/>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862"/>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20"/>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C72C"/>
                </a:solidFill>
                <a:latin typeface="DM Sans" pitchFamily="34" charset="0"/>
                <a:ea typeface="DM Sans" pitchFamily="34" charset="-122"/>
                <a:cs typeface="DM Sans" pitchFamily="34" charset="-120"/>
              </a:rPr>
              <a:t>13 · OUR ASK</a:t>
            </a:r>
            <a:endParaRPr lang="en-US" sz="1200" dirty="0"/>
          </a:p>
        </p:txBody>
      </p:sp>
      <p:sp>
        <p:nvSpPr>
          <p:cNvPr id="3" name="Text 1"/>
          <p:cNvSpPr/>
          <p:nvPr/>
        </p:nvSpPr>
        <p:spPr>
          <a:xfrm>
            <a:off x="812726" y="1280046"/>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7F5EE"/>
                </a:solidFill>
                <a:latin typeface="DM Sans" pitchFamily="34" charset="0"/>
                <a:ea typeface="DM Sans" pitchFamily="34" charset="-122"/>
                <a:cs typeface="DM Sans" pitchFamily="34" charset="-120"/>
              </a:rPr>
              <a:t>What we need to run the pilot</a:t>
            </a:r>
            <a:endParaRPr lang="en-US" sz="3600" dirty="0"/>
          </a:p>
        </p:txBody>
      </p:sp>
      <p:sp>
        <p:nvSpPr>
          <p:cNvPr id="4" name="Shape 2"/>
          <p:cNvSpPr/>
          <p:nvPr/>
        </p:nvSpPr>
        <p:spPr>
          <a:xfrm>
            <a:off x="815901" y="2040012"/>
            <a:ext cx="3380358" cy="1660153"/>
          </a:xfrm>
          <a:prstGeom prst="roundRect">
            <a:avLst>
              <a:gd name="adj" fmla="val 7459"/>
            </a:avLst>
          </a:prstGeom>
          <a:solidFill>
            <a:srgbClr val="17382B"/>
          </a:solidFill>
          <a:ln w="6350">
            <a:solidFill>
              <a:srgbClr val="2A5242"/>
            </a:solidFill>
            <a:prstDash val="solid"/>
          </a:ln>
        </p:spPr>
      </p:sp>
      <p:sp>
        <p:nvSpPr>
          <p:cNvPr id="5" name="Text 3"/>
          <p:cNvSpPr/>
          <p:nvPr/>
        </p:nvSpPr>
        <p:spPr>
          <a:xfrm>
            <a:off x="1049238" y="2273350"/>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C72C"/>
                </a:solidFill>
                <a:latin typeface="DM Sans" pitchFamily="34" charset="0"/>
                <a:ea typeface="DM Sans" pitchFamily="34" charset="-122"/>
                <a:cs typeface="DM Sans" pitchFamily="34" charset="-120"/>
              </a:rPr>
              <a:t>Funding</a:t>
            </a:r>
            <a:endParaRPr lang="en-US" sz="2000" dirty="0"/>
          </a:p>
        </p:txBody>
      </p:sp>
      <p:sp>
        <p:nvSpPr>
          <p:cNvPr id="6" name="Text 4"/>
          <p:cNvSpPr/>
          <p:nvPr/>
        </p:nvSpPr>
        <p:spPr>
          <a:xfrm>
            <a:off x="1049238" y="2666876"/>
            <a:ext cx="3001093"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₦5,000,000 to collect scrap photos, train the model and run a three-month pilot.</a:t>
            </a:r>
            <a:endParaRPr lang="en-US" sz="1500" dirty="0"/>
          </a:p>
        </p:txBody>
      </p:sp>
      <p:sp>
        <p:nvSpPr>
          <p:cNvPr id="7" name="Shape 5"/>
          <p:cNvSpPr/>
          <p:nvPr/>
        </p:nvSpPr>
        <p:spPr>
          <a:xfrm>
            <a:off x="4405759" y="2040012"/>
            <a:ext cx="3380482" cy="1660153"/>
          </a:xfrm>
          <a:prstGeom prst="roundRect">
            <a:avLst>
              <a:gd name="adj" fmla="val 7459"/>
            </a:avLst>
          </a:prstGeom>
          <a:solidFill>
            <a:srgbClr val="17382B"/>
          </a:solidFill>
          <a:ln w="6350">
            <a:solidFill>
              <a:srgbClr val="2A5242"/>
            </a:solidFill>
            <a:prstDash val="solid"/>
          </a:ln>
        </p:spPr>
      </p:sp>
      <p:sp>
        <p:nvSpPr>
          <p:cNvPr id="8" name="Text 6"/>
          <p:cNvSpPr/>
          <p:nvPr/>
        </p:nvSpPr>
        <p:spPr>
          <a:xfrm>
            <a:off x="4639097" y="2273350"/>
            <a:ext cx="3001221"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C72C"/>
                </a:solidFill>
                <a:latin typeface="DM Sans" pitchFamily="34" charset="0"/>
                <a:ea typeface="DM Sans" pitchFamily="34" charset="-122"/>
                <a:cs typeface="DM Sans" pitchFamily="34" charset="-120"/>
              </a:rPr>
              <a:t>MTN access</a:t>
            </a:r>
            <a:endParaRPr lang="en-US" sz="2000" dirty="0"/>
          </a:p>
        </p:txBody>
      </p:sp>
      <p:sp>
        <p:nvSpPr>
          <p:cNvPr id="9" name="Text 7"/>
          <p:cNvSpPr/>
          <p:nvPr/>
        </p:nvSpPr>
        <p:spPr>
          <a:xfrm>
            <a:off x="4639097" y="2666876"/>
            <a:ext cx="3001221"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Help with a USSD shortcode, SMS and MoMo payouts.</a:t>
            </a:r>
            <a:endParaRPr lang="en-US" sz="1500" dirty="0"/>
          </a:p>
        </p:txBody>
      </p:sp>
      <p:sp>
        <p:nvSpPr>
          <p:cNvPr id="10" name="Shape 8"/>
          <p:cNvSpPr/>
          <p:nvPr/>
        </p:nvSpPr>
        <p:spPr>
          <a:xfrm>
            <a:off x="7995741" y="2040012"/>
            <a:ext cx="3380358" cy="1660153"/>
          </a:xfrm>
          <a:prstGeom prst="roundRect">
            <a:avLst>
              <a:gd name="adj" fmla="val 7459"/>
            </a:avLst>
          </a:prstGeom>
          <a:solidFill>
            <a:srgbClr val="17382B"/>
          </a:solidFill>
          <a:ln w="6350">
            <a:solidFill>
              <a:srgbClr val="2A5242"/>
            </a:solidFill>
            <a:prstDash val="solid"/>
          </a:ln>
        </p:spPr>
      </p:sp>
      <p:sp>
        <p:nvSpPr>
          <p:cNvPr id="11" name="Text 9"/>
          <p:cNvSpPr/>
          <p:nvPr/>
        </p:nvSpPr>
        <p:spPr>
          <a:xfrm>
            <a:off x="8229079" y="2273350"/>
            <a:ext cx="3001093" cy="33012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C72C"/>
                </a:solidFill>
                <a:latin typeface="DM Sans" pitchFamily="34" charset="0"/>
                <a:ea typeface="DM Sans" pitchFamily="34" charset="-122"/>
                <a:cs typeface="DM Sans" pitchFamily="34" charset="-120"/>
              </a:rPr>
              <a:t>Mentorship</a:t>
            </a:r>
            <a:endParaRPr lang="en-US" sz="2000" dirty="0"/>
          </a:p>
        </p:txBody>
      </p:sp>
      <p:sp>
        <p:nvSpPr>
          <p:cNvPr id="12" name="Text 10"/>
          <p:cNvSpPr/>
          <p:nvPr/>
        </p:nvSpPr>
        <p:spPr>
          <a:xfrm>
            <a:off x="8229079" y="2666876"/>
            <a:ext cx="3001093"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E3DB"/>
                </a:solidFill>
                <a:latin typeface="DM Sans" pitchFamily="34" charset="0"/>
                <a:ea typeface="DM Sans" pitchFamily="34" charset="-122"/>
                <a:cs typeface="DM Sans" pitchFamily="34" charset="-120"/>
              </a:rPr>
              <a:t>Guidance on field pilots and on working with recycling hubs.</a:t>
            </a:r>
            <a:endParaRPr lang="en-US" sz="1500" dirty="0"/>
          </a:p>
        </p:txBody>
      </p:sp>
      <p:sp>
        <p:nvSpPr>
          <p:cNvPr id="13" name="Text 11"/>
          <p:cNvSpPr/>
          <p:nvPr/>
        </p:nvSpPr>
        <p:spPr>
          <a:xfrm>
            <a:off x="812726" y="4394398"/>
            <a:ext cx="10883545" cy="434305"/>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F7F5EE"/>
                </a:solidFill>
                <a:latin typeface="DM Sans" pitchFamily="34" charset="0"/>
                <a:ea typeface="DM Sans" pitchFamily="34" charset="-122"/>
                <a:cs typeface="DM Sans" pitchFamily="34" charset="-120"/>
              </a:rPr>
              <a:t>Every kilogram of scrap, fairly valued.</a:t>
            </a:r>
            <a:endParaRPr lang="en-US" sz="2800" dirty="0"/>
          </a:p>
        </p:txBody>
      </p:sp>
      <p:sp>
        <p:nvSpPr>
          <p:cNvPr id="14" name="Text 12"/>
          <p:cNvSpPr/>
          <p:nvPr/>
        </p:nvSpPr>
        <p:spPr>
          <a:xfrm>
            <a:off x="812726" y="5057304"/>
            <a:ext cx="10883545" cy="289446"/>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C72C"/>
                </a:solidFill>
                <a:latin typeface="DM Sans" pitchFamily="34" charset="0"/>
                <a:ea typeface="DM Sans" pitchFamily="34" charset="-122"/>
                <a:cs typeface="DM Sans" pitchFamily="34" charset="-120"/>
              </a:rPr>
              <a:t>Safer collectors. Fairer prices. A cleaner Nigeria.</a:t>
            </a:r>
            <a:endParaRPr lang="en-US" sz="1600" dirty="0"/>
          </a:p>
        </p:txBody>
      </p:sp>
      <p:sp>
        <p:nvSpPr>
          <p:cNvPr id="15" name="Text 13"/>
          <p:cNvSpPr/>
          <p:nvPr/>
        </p:nvSpPr>
        <p:spPr>
          <a:xfrm>
            <a:off x="812726" y="5575350"/>
            <a:ext cx="10883545" cy="29205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CC2"/>
                </a:solidFill>
                <a:latin typeface="DM Sans" pitchFamily="34" charset="0"/>
                <a:ea typeface="DM Sans" pitchFamily="34" charset="-122"/>
                <a:cs typeface="DM Sans" pitchFamily="34" charset="-120"/>
              </a:rPr>
              <a:t>team.nexus@example.com · +234 800 000 0000 · github.com/Moses2411/inteliscrap-AI</a:t>
            </a:r>
            <a:endParaRPr lang="en-US" sz="1500" dirty="0"/>
          </a:p>
        </p:txBody>
      </p:sp>
      <p:sp>
        <p:nvSpPr>
          <p:cNvPr id="16" name="Text 14"/>
          <p:cNvSpPr/>
          <p:nvPr/>
        </p:nvSpPr>
        <p:spPr>
          <a:xfrm>
            <a:off x="10566474" y="6238379"/>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CC2"/>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theme/theme1.xml><?xml version="1.0" encoding="utf-8"?>
<a:theme xmlns:a="http://schemas.openxmlformats.org/drawingml/2006/main" name="InteliScrap AI Pitch Deck">
  <a:themeElements>
    <a:clrScheme name="InteliScrap AI Pitch Deck">
      <a:dk1>
        <a:srgbClr val="0F2A20"/>
      </a:dk1>
      <a:lt1>
        <a:srgbClr val="F7F5EE"/>
      </a:lt1>
      <a:dk2>
        <a:srgbClr val="495D54"/>
      </a:dk2>
      <a:lt2>
        <a:srgbClr val="E0E1D9"/>
      </a:lt2>
      <a:accent1>
        <a:srgbClr val="FFC72C"/>
      </a:accent1>
      <a:accent2>
        <a:srgbClr val="17794A"/>
      </a:accent2>
      <a:accent3>
        <a:srgbClr val="3E4A44"/>
      </a:accent3>
      <a:accent4>
        <a:srgbClr val="D5E3DB"/>
      </a:accent4>
      <a:accent5>
        <a:srgbClr val="5C6862"/>
      </a:accent5>
      <a:accent6>
        <a:srgbClr val="B9CCC2"/>
      </a:accent6>
      <a:hlink>
        <a:srgbClr val="0563C1"/>
      </a:hlink>
      <a:folHlink>
        <a:srgbClr val="954F72"/>
      </a:folHlink>
    </a:clrScheme>
    <a:fontScheme name="InteliScrap AI Pitch Dec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2651</Words>
  <Application>Microsoft Office PowerPoint</Application>
  <PresentationFormat>Widescreen</PresentationFormat>
  <Paragraphs>226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DM Sans</vt:lpstr>
      <vt:lpstr>InteliScrap AI Pitch Deck</vt:lpstr>
      <vt:lpstr>InteliScrap AI</vt:lpstr>
      <vt:lpstr>Collectors work blind</vt:lpstr>
      <vt:lpstr>Snap a photo. Get the answer.</vt:lpstr>
      <vt:lpstr>See it work</vt:lpstr>
      <vt:lpstr>Works offline. Never guesses.</vt:lpstr>
      <vt:lpstr>Every phone, every collector</vt:lpstr>
      <vt:lpstr>Built for the street, not the office</vt:lpstr>
      <vt:lpstr>A working prototype, not a slide idea</vt:lpstr>
      <vt:lpstr>Free for collectors. Businesses pay.</vt:lpstr>
      <vt:lpstr>Compliance and safety for big buyers</vt:lpstr>
      <vt:lpstr>Every collector is a future MTN customer</vt:lpstr>
      <vt:lpstr>From prototype to pilot to scale</vt:lpstr>
      <vt:lpstr>Three builders, one working product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InteliScrap AI Pitch Deck</dc:title>
  <dc:subject/>
  <dc:creator/>
  <cp:lastModifiedBy>Paul Yusuf</cp:lastModifiedBy>
  <cp:revision>3</cp:revision>
  <dcterms:created xsi:type="dcterms:W3CDTF">2026-10-11T17:26:43Z</dcterms:created>
  <dcterms:modified xsi:type="dcterms:W3CDTF">2026-10-11T19:35:37Z</dcterms:modified>
</cp:coreProperties>
</file>