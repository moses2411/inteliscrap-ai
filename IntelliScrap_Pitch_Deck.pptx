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1" d="100"/>
          <a:sy n="71" d="100"/>
        </p:scale>
        <p:origin x="672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41148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932688"/>
            <a:ext cx="512064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BUILD WITH GEMMA · GEMMA FOR GOOD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241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Segoe UI"/>
              </a:defRPr>
            </a:pPr>
            <a:r>
              <a:t>IntelliScrap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60320"/>
            <a:ext cx="10241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200" b="0" i="0">
                <a:solidFill>
                  <a:srgbClr val="CBD5E1"/>
                </a:solidFill>
                <a:latin typeface="Segoe UI"/>
              </a:defRPr>
            </a:pPr>
            <a:r>
              <a:t>The offline-first AI co-pilot that makes informal recycling safer, fairer, and traceable.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611880"/>
            <a:ext cx="2011680" cy="502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3840480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defRPr sz="1500" b="0" i="0">
                <a:solidFill>
                  <a:srgbClr val="94A3B8"/>
                </a:solidFill>
                <a:latin typeface="Segoe UI"/>
              </a:defRPr>
            </a:pPr>
            <a:r>
              <a:t>Empowering informal waste pickers — the Baban Bola of Northern Nigeria — with multimodal edge intelligence in Hausa, Pidgin and English.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62133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ECFDF5"/>
                </a:solidFill>
                <a:latin typeface="Segoe UI"/>
              </a:defRPr>
            </a:pPr>
            <a:r>
              <a:t>OFFLINE-FIRST PWA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62133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ECFDF5"/>
                </a:solidFill>
                <a:latin typeface="Segoe UI"/>
              </a:defRPr>
            </a:pPr>
            <a:r>
              <a:t>EDGE AI · ZERO DATA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62133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ECFDF5"/>
                </a:solidFill>
                <a:latin typeface="Segoe UI"/>
              </a:defRPr>
            </a:pPr>
            <a:r>
              <a:t>3 LANGUAGES · VOICE-FIRST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62133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ECFDF5"/>
                </a:solidFill>
                <a:latin typeface="Segoe UI"/>
              </a:defRPr>
            </a:pPr>
            <a:r>
              <a:t>MARKETPLACE + EPR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50" b="0" i="0">
                <a:solidFill>
                  <a:srgbClr val="7C8A9F"/>
                </a:solidFill>
                <a:latin typeface="Segoe UI"/>
              </a:defRPr>
            </a:pPr>
            <a:r>
              <a:t>TEAM NEXUS  ·  ABU ZARIA  ·  TRACK 1 — LOCAL LANGUAGES &amp; LITERACY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2535" y="59893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1150" b="0" i="0">
                <a:solidFill>
                  <a:srgbClr val="7C8A9F"/>
                </a:solidFill>
                <a:latin typeface="Segoe UI"/>
              </a:defRPr>
            </a:pPr>
            <a:r>
              <a:t>github.com/Moses2411/inteliscrap-AI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Evidenced pain points at the bottom of the recycling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PROBLEM —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138928" cy="18836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06424" y="1682496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8216" y="1700784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HEALTH — toxic e-waste, handled blind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322576"/>
            <a:ext cx="4709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Leaking batteries, mercury tubes and bloated lithium cells are picked up bare-handed.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Result: chemical burns, lead poisoning and respiratory illness.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481328"/>
            <a:ext cx="5138928" cy="18836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19088" y="1682496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1700784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MONEY — collectors squeezed by middlemen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22576"/>
            <a:ext cx="4709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Cart-pushers and pickers rarely know grades or prices.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Reported payouts run 30–50% below fair value — no bargaining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1" y="3520674"/>
            <a:ext cx="5138928" cy="18836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1106424" y="37307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3749039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CART ECONOMY — households short-changed at the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4370832"/>
            <a:ext cx="4709160" cy="9260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Roaming </a:t>
            </a:r>
            <a:r>
              <a:rPr lang="en-GB" dirty="0"/>
              <a:t>collectors walk for miles without certainty of getting anything.</a:t>
            </a:r>
            <a:r>
              <a:rPr dirty="0"/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Households </a:t>
            </a:r>
            <a:r>
              <a:rPr lang="en-GB" dirty="0"/>
              <a:t>who have high value scraps and recyclables sits at home and wait for the lucky time when the collectors will pass by their house: The household have what the recycler wants and the recycler wants to pay for that but they are both invisible to each other.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6181344" y="3529584"/>
            <a:ext cx="5138928" cy="18836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19088" y="37307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3749039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ENVIRONMENT — open burning &amp; dumping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370832"/>
            <a:ext cx="4709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Heavy metals leach into soil and groundwater.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Zaria's Kubanni watershed and surrounding farmland are directly threatened.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-80101" y="5541264"/>
            <a:ext cx="12351895" cy="12801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614416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1" i="0">
                <a:solidFill>
                  <a:srgbClr val="059669"/>
                </a:solidFill>
                <a:latin typeface="Segoe UI"/>
              </a:defRPr>
            </a:pPr>
            <a:r>
              <a:t>WHY IT MATTERS —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632704"/>
            <a:ext cx="56509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800" b="0" i="0">
                <a:solidFill>
                  <a:srgbClr val="6B7A8F"/>
                </a:solidFill>
                <a:latin typeface="Segoe UI"/>
              </a:defRPr>
            </a:pPr>
            <a:r>
              <a:t>Commonly cited estimates — full sources on request.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887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900" b="1" i="0">
                <a:solidFill>
                  <a:srgbClr val="ECFDF5"/>
                </a:solidFill>
                <a:latin typeface="Segoe UI"/>
              </a:defRPr>
            </a:pPr>
            <a:r>
              <a:t>~62M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364224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Segoe UI"/>
              </a:defRPr>
            </a:pPr>
            <a:r>
              <a:t>global e-waste / yr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39" y="58887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900" b="1" i="0">
                <a:solidFill>
                  <a:srgbClr val="ECFDF5"/>
                </a:solidFill>
                <a:latin typeface="Segoe UI"/>
              </a:defRPr>
            </a:pPr>
            <a:r>
              <a:t>&gt;1.1M t/yr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39" y="6364224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Segoe UI"/>
              </a:defRPr>
            </a:pPr>
            <a:r>
              <a:t>Nigeria e-waste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8887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900" b="1" i="0">
                <a:solidFill>
                  <a:srgbClr val="ECFDF5"/>
                </a:solidFill>
                <a:latin typeface="Segoe UI"/>
              </a:defRPr>
            </a:pPr>
            <a:r>
              <a:t>60–90%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6364224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Segoe UI"/>
              </a:defRPr>
            </a:pPr>
            <a:r>
              <a:t>informal-hand flows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59" y="58887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900" b="1" i="0">
                <a:solidFill>
                  <a:srgbClr val="ECFDF5"/>
                </a:solidFill>
                <a:latin typeface="Segoe UI"/>
              </a:defRPr>
            </a:pPr>
            <a:r>
              <a:t>6 hubs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6364224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850" b="0" i="0">
                <a:solidFill>
                  <a:srgbClr val="FFFFFF"/>
                </a:solidFill>
                <a:latin typeface="Segoe UI"/>
              </a:defRPr>
            </a:pPr>
            <a:r>
              <a:t>recognised in Zaria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" y="6638544"/>
            <a:ext cx="517093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IntelliScrap</a:t>
            </a:r>
            <a:r>
              <a:rPr dirty="0"/>
              <a:t> AI  ·  Pitch Deck  ·  BMC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CBD5E1"/>
                </a:solidFill>
                <a:latin typeface="Segoe UI"/>
              </a:defRPr>
            </a:pPr>
            <a:r>
              <a:t>A multimodal, offline-first co-pilot in every picker's pocket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PRODUCT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435607" y="148132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7128" y="170078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1" i="0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59152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839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5603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500" b="1" i="0">
                <a:solidFill>
                  <a:srgbClr val="ECFDF5"/>
                </a:solidFill>
                <a:latin typeface="Segoe UI"/>
              </a:defRPr>
            </a:pPr>
            <a:r>
              <a:t>Snap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99232"/>
            <a:ext cx="2057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Capture dirty, broken scrap with any phone camera — no special kit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51376" y="148132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170078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1" i="0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4448" y="2359152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839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13048" y="25603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500" b="1" i="0">
                <a:solidFill>
                  <a:srgbClr val="ECFDF5"/>
                </a:solidFill>
                <a:latin typeface="Segoe UI"/>
              </a:defRPr>
            </a:pPr>
            <a:r>
              <a:t>Edge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3048" y="2999232"/>
            <a:ext cx="2057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Classification runs on-device — works fully offline with zero data cost.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67144" y="148132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8664" y="170078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1" i="0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2359152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839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28816" y="25603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500" b="1" i="0">
                <a:solidFill>
                  <a:srgbClr val="ECFDF5"/>
                </a:solidFill>
                <a:latin typeface="Segoe UI"/>
              </a:defRPr>
            </a:pPr>
            <a:r>
              <a:t>Safety + Price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2999232"/>
            <a:ext cx="2057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Hazard flags and a fair ₦/kg price from the live market matrix.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82911" y="148132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59152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839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44584" y="25603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500" b="1" i="0">
                <a:solidFill>
                  <a:srgbClr val="ECFDF5"/>
                </a:solidFill>
                <a:latin typeface="Segoe UI"/>
              </a:defRPr>
            </a:pPr>
            <a:r>
              <a:t>Local Voice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2999232"/>
            <a:ext cx="2057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Reads the result aloud in Hausa, Pidgin or English; one tap lists it for doorstep pickup.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956048"/>
            <a:ext cx="12191695" cy="713232"/>
          </a:xfrm>
          <a:prstGeom prst="rect">
            <a:avLst/>
          </a:prstGeom>
          <a:solidFill>
            <a:srgbClr val="1E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084064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Honesty by design — every result carries a source badge (edge / server / manual). We never fabricate an answer.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5870448"/>
            <a:ext cx="2487168" cy="347472"/>
          </a:xfrm>
          <a:prstGeom prst="roundRect">
            <a:avLst>
              <a:gd name="adj" fmla="val 50000"/>
            </a:avLst>
          </a:prstGeom>
          <a:solidFill>
            <a:srgbClr val="1B2940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CBD5E1"/>
                </a:solidFill>
                <a:latin typeface="Segoe UI"/>
              </a:defRPr>
            </a:pPr>
            <a:r>
              <a:t>8 material classes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39" y="5870448"/>
            <a:ext cx="2487168" cy="347472"/>
          </a:xfrm>
          <a:prstGeom prst="roundRect">
            <a:avLst>
              <a:gd name="adj" fmla="val 50000"/>
            </a:avLst>
          </a:prstGeom>
          <a:solidFill>
            <a:srgbClr val="1B2940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CBD5E1"/>
                </a:solidFill>
                <a:latin typeface="Segoe UI"/>
              </a:defRPr>
            </a:pPr>
            <a:r>
              <a:t>15 hazard types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5870448"/>
            <a:ext cx="2487168" cy="347472"/>
          </a:xfrm>
          <a:prstGeom prst="roundRect">
            <a:avLst>
              <a:gd name="adj" fmla="val 50000"/>
            </a:avLst>
          </a:prstGeom>
          <a:solidFill>
            <a:srgbClr val="1B2940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CBD5E1"/>
                </a:solidFill>
                <a:latin typeface="Segoe UI"/>
              </a:defRPr>
            </a:pPr>
            <a:r>
              <a:t>3 languages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3959" y="5870448"/>
            <a:ext cx="2487168" cy="347472"/>
          </a:xfrm>
          <a:prstGeom prst="roundRect">
            <a:avLst>
              <a:gd name="adj" fmla="val 50000"/>
            </a:avLst>
          </a:prstGeom>
          <a:solidFill>
            <a:srgbClr val="1B2940"/>
          </a:solidFill>
          <a:ln w="9525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950" b="1">
                <a:solidFill>
                  <a:srgbClr val="CBD5E1"/>
                </a:solidFill>
                <a:latin typeface="Segoe UI"/>
              </a:defRPr>
            </a:pPr>
            <a:r>
              <a:t>Edge → server → fallback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Specific, well-evidenced target groups — prioritised for a Zaria-first 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SEGMENTS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230368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97280" y="1664208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PRIMARY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645920"/>
            <a:ext cx="3611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Informal Collectors — “Baban Bola”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48256"/>
            <a:ext cx="4800600" cy="131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Hundreds active across Zaria's six </a:t>
            </a:r>
            <a:r>
              <a:rPr dirty="0" err="1"/>
              <a:t>recognised</a:t>
            </a:r>
            <a:r>
              <a:rPr dirty="0"/>
              <a:t> hubs (Samaru, Sabon Gari, Kongo, Bomo, Hanwa, </a:t>
            </a:r>
            <a:r>
              <a:rPr dirty="0" err="1"/>
              <a:t>Dutsen</a:t>
            </a:r>
            <a:r>
              <a:rPr dirty="0"/>
              <a:t> Abba).</a:t>
            </a:r>
          </a:p>
          <a:p>
            <a:pPr>
              <a:lnSpc>
                <a:spcPct val="108000"/>
              </a:lnSpc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Handle the large majority of recoverable scrap; daily toxic exposure, no priced market access.</a:t>
            </a:r>
            <a:br>
              <a:rPr lang="en-GB" dirty="0"/>
            </a:br>
            <a:r>
              <a:rPr lang="en-GB" dirty="0"/>
              <a:t>•  Walk and push cart long distances without informed navigation causing burn out low income </a:t>
            </a:r>
            <a:r>
              <a:rPr lang="en-GB" dirty="0" err="1"/>
              <a:t>eneration</a:t>
            </a:r>
            <a:r>
              <a:rPr lang="en-GB" dirty="0"/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053328" y="1481328"/>
            <a:ext cx="5230368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8" y="1664208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PRIMARY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1645920"/>
            <a:ext cx="3611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Households &amp; Small Sellers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2048256"/>
            <a:ext cx="4800600" cy="5617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Homes, shops and offices holding scrap — batteries, cables, PET bottles.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List it once → fair offers → doorstep pickup: passive home income from scrap that today is given away</a:t>
            </a:r>
            <a:r>
              <a:rPr lang="en-GB" dirty="0"/>
              <a:t>, disposed on dump sites or burned.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68680" y="3584448"/>
            <a:ext cx="5230368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97280" y="3767328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SECONDARY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749039"/>
            <a:ext cx="3611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Recycling Hubs &amp; Aggregators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51376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Need predictable, quality-sorted supply and verifiable sourcing.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Pay for volume and for evidence of origin (EPR-ready).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53328" y="3584448"/>
            <a:ext cx="5230368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1928" y="3767328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256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B2B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749039"/>
            <a:ext cx="3611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PROs, NGOs &amp; EPR Bodies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4151376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Regulated producers need auditable collection data for compliance.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NGOs need measurable impact to report to funders and regulators.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05856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0" i="1">
                <a:solidFill>
                  <a:srgbClr val="64748B"/>
                </a:solidFill>
                <a:latin typeface="Segoe UI"/>
              </a:defRPr>
            </a:pPr>
            <a:r>
              <a:t>Segments are encoded in the product: USSD preset hubs, collector / seller / hub roles, and NGO + compliance dashboards.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Value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Clear benefits tied to named problems — for every segment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VALUE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23036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06424" y="170078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50" b="1" i="0">
                <a:solidFill>
                  <a:srgbClr val="047857"/>
                </a:solidFill>
                <a:latin typeface="Segoe UI"/>
              </a:defRPr>
            </a:pPr>
            <a:r>
              <a:t>For Collectors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32257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Fair prices + dispatched jobs.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" y="2553231"/>
            <a:ext cx="4754880" cy="5346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Live ₦/kg matrix lifts per-load income; the H3 grid routes </a:t>
            </a:r>
            <a:r>
              <a:rPr lang="en-GB" dirty="0"/>
              <a:t>collectors</a:t>
            </a:r>
            <a:r>
              <a:rPr dirty="0"/>
              <a:t> to </a:t>
            </a:r>
            <a:r>
              <a:rPr lang="en-GB" dirty="0"/>
              <a:t>exact</a:t>
            </a:r>
            <a:r>
              <a:rPr dirty="0"/>
              <a:t> </a:t>
            </a:r>
            <a:r>
              <a:rPr lang="en-GB" dirty="0"/>
              <a:t>location for scrap/recyclable</a:t>
            </a:r>
            <a:r>
              <a:rPr dirty="0"/>
              <a:t> </a:t>
            </a:r>
            <a:r>
              <a:rPr lang="en-GB" dirty="0"/>
              <a:t>collection </a:t>
            </a:r>
            <a:r>
              <a:rPr dirty="0"/>
              <a:t>instead of </a:t>
            </a:r>
            <a:r>
              <a:rPr lang="en-GB" dirty="0"/>
              <a:t>miles of uninformed search.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18211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0" i="1">
                <a:solidFill>
                  <a:srgbClr val="047857"/>
                </a:solidFill>
                <a:latin typeface="Segoe UI"/>
              </a:defRPr>
            </a:pPr>
            <a:r>
              <a:t>Solves: middleman squeeze &amp; unpredictable cart income.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481328"/>
            <a:ext cx="523036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91072" y="170078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🗣️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173736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50" b="1" i="0">
                <a:solidFill>
                  <a:srgbClr val="047857"/>
                </a:solidFill>
                <a:latin typeface="Segoe UI"/>
              </a:defRPr>
            </a:pPr>
            <a:r>
              <a:t>For Collectors &amp; Sellers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32257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Safety that speaks their language.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688336"/>
            <a:ext cx="4754880" cy="169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Hazard alerts and handling instructions voiced in Hausa and Pidgin.</a:t>
            </a:r>
            <a:endParaRPr lang="en-GB" dirty="0"/>
          </a:p>
        </p:txBody>
      </p:sp>
      <p:sp>
        <p:nvSpPr>
          <p:cNvPr id="18" name="TextBox 17"/>
          <p:cNvSpPr txBox="1"/>
          <p:nvPr/>
        </p:nvSpPr>
        <p:spPr>
          <a:xfrm>
            <a:off x="6291072" y="318211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0" i="1">
                <a:solidFill>
                  <a:srgbClr val="047857"/>
                </a:solidFill>
                <a:latin typeface="Segoe UI"/>
              </a:defRPr>
            </a:pPr>
            <a:r>
              <a:rPr dirty="0"/>
              <a:t>Solves: blind handling of toxic e-waste.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675887"/>
            <a:ext cx="523036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6424" y="389534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3192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50" b="1" i="0">
                <a:solidFill>
                  <a:srgbClr val="047857"/>
                </a:solidFill>
                <a:latin typeface="Segoe UI"/>
              </a:defRPr>
            </a:pPr>
            <a:r>
              <a:t>For Households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" y="451713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Passive home income from scrap.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" y="4882896"/>
            <a:ext cx="4754880" cy="351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Household scrap listed once is collected with fair, competing offers — no giveaways, no </a:t>
            </a:r>
            <a:r>
              <a:rPr lang="en-GB" dirty="0"/>
              <a:t>inappropriate disposing off.</a:t>
            </a:r>
            <a:r>
              <a:rPr dirty="0"/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" y="537667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0" i="1">
                <a:solidFill>
                  <a:srgbClr val="047857"/>
                </a:solidFill>
                <a:latin typeface="Segoe UI"/>
              </a:defRPr>
            </a:pPr>
            <a:r>
              <a:t>Solves: uninformed cart-pusher deals.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675887"/>
            <a:ext cx="523036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291072" y="389534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93192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50" b="1" i="0">
                <a:solidFill>
                  <a:srgbClr val="047857"/>
                </a:solidFill>
                <a:latin typeface="Segoe UI"/>
              </a:defRPr>
            </a:pPr>
            <a:r>
              <a:t>For Hubs, PROs &amp; NGOs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451713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Traceable, audit-ready supply.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4882896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t>Daily buy-requests with live fill progress and EPR-ready exports.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537667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0" i="1">
                <a:solidFill>
                  <a:srgbClr val="047857"/>
                </a:solidFill>
                <a:latin typeface="Segoe UI"/>
              </a:defRPr>
            </a:pPr>
            <a:r>
              <a:t>Solves: unreliable feedstock &amp; unverifiable compliance.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70448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0" i="1">
                <a:solidFill>
                  <a:srgbClr val="64748B"/>
                </a:solidFill>
                <a:latin typeface="Segoe UI"/>
              </a:defRPr>
            </a:pPr>
            <a:r>
              <a:t>Every benefit above maps 1:1 to a problem named on the Problem slide — benefit, not feature.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2127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Problem–Solution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Evidenced problem → logical solution → measurable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FIT —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4078486"/>
              </p:ext>
            </p:extLst>
          </p:nvPr>
        </p:nvGraphicFramePr>
        <p:xfrm>
          <a:off x="868680" y="1481328"/>
          <a:ext cx="1045159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Problem (evidenced)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Solution (already delivered)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Outcome (measurable)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Toxic e-waste handled blind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burns, poisonings, illness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Edge classifier flags hazards;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local audio in Hausa / Pidgin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Fewer injuries; safer handling habits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Middlemen underpay via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information asymmetry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Always-on ₦/kg matrix +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source-badged results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Higher collector earnings and bargaining power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rPr dirty="0"/>
                        <a:t>Door-to-door cart buying is uninformed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rPr dirty="0"/>
                        <a:t>— households get </a:t>
                      </a:r>
                      <a:r>
                        <a:rPr lang="en-GB" dirty="0"/>
                        <a:t>naira</a:t>
                      </a:r>
                      <a:r>
                        <a:rPr dirty="0"/>
                        <a:t> for scrap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Household listing → fair offers →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dispatched doorstep pickup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Passive home income; collectors get steady jobs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 safe selling / deposit channel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for households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Listing → H3 grid dispatch →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SMS / USSD offers → settlement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More volume to registered hubs, fully traceable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EPR compliance is unmeasured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and costly to prove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Per-settlement compliance</a:t>
                      </a:r>
                    </a:p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manifesto exported via API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rPr dirty="0"/>
                        <a:t>Audit-ready data for PROs, NGOs and regulators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66928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00" b="1" i="0">
                <a:solidFill>
                  <a:srgbClr val="047857"/>
                </a:solidFill>
                <a:latin typeface="Segoe UI"/>
              </a:defRPr>
            </a:pPr>
            <a:r>
              <a:t>The fit is instrumented end-to-end: scan → classify → price → list → dispatch → settle → compliance record.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Realistic, context-appropriate reach — digital where it works, low-tech where it must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CHANNELS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2303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06424" y="168249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256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1907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350" b="1" i="0">
                <a:solidFill>
                  <a:srgbClr val="0F172A"/>
                </a:solidFill>
                <a:latin typeface="Segoe UI"/>
              </a:defRPr>
            </a:pPr>
            <a:r>
              <a:t>Offline-first 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377440"/>
            <a:ext cx="4754880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Install once from a QR / share link handed out at hubs.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Households list scrap at home; collectors receive job offers on the same screen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3328" y="1481328"/>
            <a:ext cx="52303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91072" y="168249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256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*️⃣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8" y="171907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350" b="1" i="0">
                <a:solidFill>
                  <a:srgbClr val="0F172A"/>
                </a:solidFill>
                <a:latin typeface="Segoe UI"/>
              </a:defRPr>
            </a:pPr>
            <a:r>
              <a:t>USSD  *347*101#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37744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Self-registration and menus run on any feature phone.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Six preset hub locations; no smartphone or app store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584448"/>
            <a:ext cx="52303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6424" y="378561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256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✉️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822191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350" b="1" i="0">
                <a:solidFill>
                  <a:srgbClr val="0F172A"/>
                </a:solidFill>
                <a:latin typeface="Segoe UI"/>
              </a:defRPr>
            </a:pPr>
            <a:r>
              <a:t>SMS + Voice (IVR)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448056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OTP login, pickup offers and ‘accept by reply’ messaging.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Runs on Africa's Talking rails with a retry outbox worker.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53328" y="3584448"/>
            <a:ext cx="52303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91072" y="378561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256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822191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350" b="1" i="0">
                <a:solidFill>
                  <a:srgbClr val="0F172A"/>
                </a:solidFill>
                <a:latin typeface="Segoe UI"/>
              </a:defRPr>
            </a:pPr>
            <a:r>
              <a:t>On-field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480560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Agents at hubs and community gates walk pickers through signup.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NGO and community-radio routes spread trusted word-of-mouth.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705856"/>
            <a:ext cx="12191695" cy="566928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Segoe UI"/>
              </a:defRPr>
            </a:pPr>
            <a:r>
              <a:t>No paid advertising in year one — distribution rides existing community, hub and telecom rails.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Customer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A trust &amp; retention plan built for low-literacy, offline users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RELATIONSHIPS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44752"/>
            <a:ext cx="2450592" cy="8412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3271" y="15361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1" i="0">
                <a:solidFill>
                  <a:srgbClr val="047857"/>
                </a:solidFill>
                <a:latin typeface="Segoe UI"/>
              </a:defRPr>
            </a:pPr>
            <a:r>
              <a:t>ACQUIRE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181051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Onfield + USSD + PWA install at hubs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2696" y="1600200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38728" y="1444752"/>
            <a:ext cx="2450592" cy="8412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3320" y="15361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1" i="0">
                <a:solidFill>
                  <a:srgbClr val="047857"/>
                </a:solidFill>
                <a:latin typeface="Segoe UI"/>
              </a:defRPr>
            </a:pPr>
            <a:r>
              <a:t>ONBOARD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81051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Consent-first signup; voice-guided first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2744" y="1600200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444752"/>
            <a:ext cx="2450592" cy="8412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3368" y="15361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1" i="0">
                <a:solidFill>
                  <a:srgbClr val="047857"/>
                </a:solidFill>
                <a:latin typeface="Segoe UI"/>
              </a:defRPr>
            </a:pPr>
            <a:r>
              <a:t>RETAIN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81051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Fair prices, source-badged results, SMS follow-ups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1600200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78824" y="1444752"/>
            <a:ext cx="2450592" cy="8412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43415" y="15361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1" i="0">
                <a:solidFill>
                  <a:srgbClr val="047857"/>
                </a:solidFill>
                <a:latin typeface="Segoe UI"/>
              </a:defRPr>
            </a:pPr>
            <a:r>
              <a:t>GROW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5" y="181051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Scans → listings → settlements → visible income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2615184"/>
            <a:ext cx="52303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8136" y="2816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🗣️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3352" y="281635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Voice-first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3352" y="3163824"/>
            <a:ext cx="4251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TTS in Hausa, Pidgin &amp; English with a visual-first UI — usable by non-readers.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53328" y="2615184"/>
            <a:ext cx="52303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272784" y="2816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81635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Radical transparency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163824"/>
            <a:ext cx="4251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Every result shows its source (edge / server / manual); we never fabricate.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4169663"/>
            <a:ext cx="52303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88136" y="437083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⚖️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3352" y="437083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Fairness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3352" y="4718303"/>
            <a:ext cx="4251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Price shown before accept; offer exclusivity prevents double-selling; settlement history is open.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3328" y="4169663"/>
            <a:ext cx="52303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72784" y="437083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37083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Offline reliability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718303"/>
            <a:ext cx="4251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Scans persist locally (IndexedDB) and sync when connectivity returns — no lost work.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7424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0" i="1">
                <a:solidFill>
                  <a:srgbClr val="64748B"/>
                </a:solidFill>
                <a:latin typeface="Segoe UI"/>
              </a:defRPr>
            </a:pPr>
            <a:r>
              <a:t>Retention loop: every scan can become a priced listing, a settled pickup and impact evidence — value users can see and re-use.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Revenue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Grounded pricing logic — the arithmetic is already implemented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REVENUE —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672276" y="1538020"/>
            <a:ext cx="3310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778508" y="170998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020" y="237749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350" b="1" i="0">
                <a:solidFill>
                  <a:srgbClr val="0F172A"/>
                </a:solidFill>
                <a:latin typeface="Segoe UI"/>
              </a:defRPr>
            </a:pPr>
            <a:r>
              <a:rPr dirty="0"/>
              <a:t>Hub 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9876" y="2766060"/>
            <a:ext cx="2852928" cy="748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₦50,000 / </a:t>
            </a:r>
            <a:r>
              <a:rPr lang="en-GB" dirty="0" err="1"/>
              <a:t>quater</a:t>
            </a:r>
            <a:r>
              <a:rPr dirty="0"/>
              <a:t> “Pro” plan per registered recycling hub (implemented).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Recurring B2B base with renewal billing (</a:t>
            </a:r>
            <a:r>
              <a:rPr dirty="0" err="1"/>
              <a:t>next_billing_at</a:t>
            </a:r>
            <a:r>
              <a:rPr dirty="0"/>
              <a:t>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481328"/>
            <a:ext cx="3310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330183" y="168249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234086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350" b="1" i="0">
                <a:solidFill>
                  <a:srgbClr val="0F172A"/>
                </a:solidFill>
                <a:latin typeface="Segoe UI"/>
              </a:defRPr>
            </a:pPr>
            <a:r>
              <a:t>Compliance &amp; data products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743200"/>
            <a:ext cx="2852928" cy="9260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API-key EPR manifesto exports + impact analytics sold to PROs and NGOs.</a:t>
            </a:r>
            <a:r>
              <a:rPr lang="en-GB" dirty="0"/>
              <a:t> This is our highest payer.</a:t>
            </a:r>
            <a:endParaRPr dirty="0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Replaces costly manual audits with a verifiable ledger.</a:t>
            </a:r>
            <a:endParaRPr lang="en-GB" dirty="0"/>
          </a:p>
        </p:txBody>
      </p:sp>
      <p:sp>
        <p:nvSpPr>
          <p:cNvPr id="19" name="Rectangle 18"/>
          <p:cNvSpPr/>
          <p:nvPr/>
        </p:nvSpPr>
        <p:spPr>
          <a:xfrm>
            <a:off x="0" y="4160519"/>
            <a:ext cx="12192000" cy="1367943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3159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1" i="0">
                <a:solidFill>
                  <a:srgbClr val="059669"/>
                </a:solidFill>
                <a:latin typeface="Segoe UI"/>
              </a:defRPr>
            </a:pPr>
            <a:r>
              <a:t>UNIT ECONOMICS — SAMPLE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81728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100" b="1" i="0">
                <a:solidFill>
                  <a:srgbClr val="ECFDF5"/>
                </a:solidFill>
                <a:latin typeface="Segoe UI"/>
              </a:defRPr>
            </a:pPr>
            <a:r>
              <a:t>≈ ₦0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57216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marginal cost per scan — edge inference runs on-device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681728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100" b="1" i="0">
                <a:solidFill>
                  <a:srgbClr val="ECFDF5"/>
                </a:solidFill>
                <a:latin typeface="Segoe UI"/>
              </a:defRPr>
            </a:pPr>
            <a:r>
              <a:t>₦5–15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5157216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cost per SMS / USSD event — online touchpoints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4681728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100" b="1" i="0">
                <a:solidFill>
                  <a:srgbClr val="ECFDF5"/>
                </a:solidFill>
                <a:latin typeface="Segoe UI"/>
              </a:defRPr>
            </a:pPr>
            <a:r>
              <a:t>₦200K/mo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5157216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4 hub subscriptions ≈ hosting + ~1,000 pickups' SMS + pilot 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96128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6B7A8F"/>
                </a:solidFill>
                <a:latin typeface="Segoe UI"/>
              </a:defRPr>
            </a:pPr>
            <a:r>
              <a:t>Illustrative — figures traceable to implemented config (fee rate, plan price).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Key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Realistic for a pre-revenue, hackathon-stage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RESOURCES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2303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88136" y="1664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5064" y="1664208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Working 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5064" y="2011680"/>
            <a:ext cx="42245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Offline-first PWA + FastAPI backend; Docker + CI deployable to Render / Vercel.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3328" y="1481328"/>
            <a:ext cx="52303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72784" y="1664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1664208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AI 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011680"/>
            <a:ext cx="42245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On-device ONNX classifier, server vision fallback, zero-shot runtime; export &amp; verify pipeline.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10128"/>
            <a:ext cx="52303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8136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3493008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Data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3840480"/>
            <a:ext cx="42245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₦ price matrix (8 classes incl. hazard flags); 3-language dictionaries with 15 hazard types + safety templates.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53328" y="3310128"/>
            <a:ext cx="52303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72784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3493008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Field rails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3840480"/>
            <a:ext cx="42245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USSD / SMS / IVR on Africa's Talking; Uber-H3 hex dispatch; Postgres ledger; compliance API.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138928"/>
            <a:ext cx="10454335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8136" y="53218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5064" y="5321808"/>
            <a:ext cx="953993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0F172A"/>
                </a:solidFill>
                <a:latin typeface="Segoe UI"/>
              </a:defRPr>
            </a:pPr>
            <a:r>
              <a:t>Team of five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5064" y="5669280"/>
            <a:ext cx="9448495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Named owners across backend, frontend, edge AI, audio &amp; DevOps — all ABU Zaria.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199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0" i="1">
                <a:solidFill>
                  <a:srgbClr val="64748B"/>
                </a:solidFill>
                <a:latin typeface="Segoe UI"/>
              </a:defRPr>
            </a:pPr>
            <a:r>
              <a:t>Owned: code, tests, integrations. Needed next: community-labelled field images, 2–3 pilot hubs, seed capital for field ops.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Key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A phased execution plan — what we do, and in what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ACTIVITIES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230368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6424" y="166420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1" i="0">
                <a:solidFill>
                  <a:srgbClr val="047857"/>
                </a:solidFill>
                <a:latin typeface="Segoe UI"/>
              </a:defRPr>
            </a:pPr>
            <a:r>
              <a:t>P1 · NOW → 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195681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Field data &amp;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395728"/>
            <a:ext cx="4800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Gather + label dirty field scrap with the community.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Fine-tune edge ONNX classifier; verify on real phone hardware.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81328"/>
            <a:ext cx="5230368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6420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1" i="0">
                <a:solidFill>
                  <a:srgbClr val="047857"/>
                </a:solidFill>
                <a:latin typeface="Segoe UI"/>
              </a:defRPr>
            </a:pPr>
            <a:r>
              <a:t>P2 · M1 → 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5681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Zaria 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95728"/>
            <a:ext cx="4800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Launch in 2–3 hubs: Samaru, Sabon Gari, Kongo.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Field onboarding agents; USSD + SMS live; first settled pickups.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694176"/>
            <a:ext cx="5230368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06424" y="387705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1" i="0">
                <a:solidFill>
                  <a:srgbClr val="047857"/>
                </a:solidFill>
                <a:latin typeface="Segoe UI"/>
              </a:defRPr>
            </a:pPr>
            <a:r>
              <a:t>P3 · M3 → M6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416966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Marketplace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4608576"/>
            <a:ext cx="4800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Onboard 5+ registered hubs with daily buy-requests.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Run fee settlement + subscription; publish impact dashboard.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94176"/>
            <a:ext cx="5230368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387705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00" b="1" i="0">
                <a:solidFill>
                  <a:srgbClr val="047857"/>
                </a:solidFill>
                <a:latin typeface="Segoe UI"/>
              </a:defRPr>
            </a:pPr>
            <a:r>
              <a:t>P4 · M6 → M12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16966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50" b="1" i="0">
                <a:solidFill>
                  <a:srgbClr val="0F172A"/>
                </a:solidFill>
                <a:latin typeface="Segoe UI"/>
              </a:defRPr>
            </a:pPr>
            <a:r>
              <a:t>Compliance &amp;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608576"/>
            <a:ext cx="4800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Sign one PRO / EPR compliance pilot; manifesto exports live.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defRPr sz="1050" b="0" i="0">
                <a:solidFill>
                  <a:srgbClr val="64748B"/>
                </a:solidFill>
                <a:latin typeface="Segoe UI"/>
              </a:defRPr>
            </a:pPr>
            <a:r>
              <a:t>•  Package the playbook and replicate in a second city.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53328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00" b="1" i="0">
                <a:solidFill>
                  <a:srgbClr val="047857"/>
                </a:solidFill>
                <a:latin typeface="Segoe UI"/>
              </a:defRPr>
            </a:pPr>
            <a:r>
              <a:t>Execution machinery is already built — 60+ automated tests cover dispatch, USSD, sync conflicts and settlement.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Key Partnerships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Named partners with explicit value flowing in both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PARTNERSHIPS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331012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481328"/>
            <a:ext cx="331012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8136" y="1609344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0F172A"/>
                </a:solidFill>
                <a:latin typeface="Segoe UI"/>
              </a:defRPr>
            </a:pPr>
            <a:r>
              <a:t>Recycling hubs &amp; aggregators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139696"/>
            <a:ext cx="2907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defRPr sz="950" b="0" i="0">
                <a:solidFill>
                  <a:srgbClr val="047857"/>
                </a:solidFill>
                <a:latin typeface="Segoe UI"/>
              </a:defRPr>
            </a:pPr>
            <a:r>
              <a:t>GIVE:  Verified supply + traceable feedstock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GET:  Demand volume, platform fees, subscriptions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481328"/>
            <a:ext cx="331012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15968" y="1481328"/>
            <a:ext cx="331012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5424" y="1609344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0F172A"/>
                </a:solidFill>
                <a:latin typeface="Segoe UI"/>
              </a:defRPr>
            </a:pPr>
            <a:r>
              <a:t>Africa's Talking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139696"/>
            <a:ext cx="2907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defRPr sz="950" b="0" i="0">
                <a:solidFill>
                  <a:srgbClr val="047857"/>
                </a:solidFill>
                <a:latin typeface="Segoe UI"/>
              </a:defRPr>
            </a:pPr>
            <a:r>
              <a:t>GIVE:  USSD / SMS / voice channel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GET:  Reliable messaging rails for OTP, offers, outbox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63256" y="1481328"/>
            <a:ext cx="331012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63256" y="1481328"/>
            <a:ext cx="331012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82712" y="1609344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0F172A"/>
                </a:solidFill>
                <a:latin typeface="Segoe UI"/>
              </a:defRPr>
            </a:pPr>
            <a:r>
              <a:t>Telecoms (MTN / Airtel / 9mobile)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2139696"/>
            <a:ext cx="2907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defRPr sz="950" b="0" i="0">
                <a:solidFill>
                  <a:srgbClr val="047857"/>
                </a:solidFill>
                <a:latin typeface="Segoe UI"/>
              </a:defRPr>
            </a:pPr>
            <a:r>
              <a:t>GIVE:  Service adoption and usage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GET:  Shortcode + zero-rated app access for pickers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310128"/>
            <a:ext cx="331012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68680" y="3310128"/>
            <a:ext cx="331012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8136" y="3438144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0F172A"/>
                </a:solidFill>
                <a:latin typeface="Segoe UI"/>
              </a:defRPr>
            </a:pPr>
            <a:r>
              <a:t>PROs / EPR bodies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968496"/>
            <a:ext cx="2907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defRPr sz="950" b="0" i="0">
                <a:solidFill>
                  <a:srgbClr val="047857"/>
                </a:solidFill>
                <a:latin typeface="Segoe UI"/>
              </a:defRPr>
            </a:pPr>
            <a:r>
              <a:t>GIVE:  Auditable compliance data at scale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GET:  B2B revenue and industry legitimacy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310128"/>
            <a:ext cx="331012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15968" y="3310128"/>
            <a:ext cx="331012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35424" y="3438144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0F172A"/>
                </a:solidFill>
                <a:latin typeface="Segoe UI"/>
              </a:defRPr>
            </a:pPr>
            <a:r>
              <a:t>NGOs &amp; local government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3968496"/>
            <a:ext cx="2907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defRPr sz="950" b="0" i="0">
                <a:solidFill>
                  <a:srgbClr val="047857"/>
                </a:solidFill>
                <a:latin typeface="Segoe UI"/>
              </a:defRPr>
            </a:pPr>
            <a:r>
              <a:t>GIVE:  Impact metrics and a safer sector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GET:  Funding, community trust, field access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63256" y="3310128"/>
            <a:ext cx="331012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63256" y="3310128"/>
            <a:ext cx="331012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82712" y="3438144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0F172A"/>
                </a:solidFill>
                <a:latin typeface="Segoe UI"/>
              </a:defRPr>
            </a:pPr>
            <a:r>
              <a:t>ABU Zaria community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2712" y="3968496"/>
            <a:ext cx="2907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defRPr sz="950" b="0" i="0">
                <a:solidFill>
                  <a:srgbClr val="047857"/>
                </a:solidFill>
                <a:latin typeface="Segoe UI"/>
              </a:defRPr>
            </a:pPr>
            <a:r>
              <a:t>GIVE:  Real-world dataset and research 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GET:  Validation, talent pipeline, local 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38928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0" i="1">
                <a:solidFill>
                  <a:srgbClr val="64748B"/>
                </a:solidFill>
                <a:latin typeface="Segoe UI"/>
              </a:defRPr>
            </a:pPr>
            <a:r>
              <a:t>Partnerships are structured as exchanges, not donations — each partner's incentive is explicit.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Cost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Simple, consistent unit economics that the revenue streams cover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COSTS —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88838"/>
              </p:ext>
            </p:extLst>
          </p:nvPr>
        </p:nvGraphicFramePr>
        <p:xfrm>
          <a:off x="868680" y="1481328"/>
          <a:ext cx="10451592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Item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Estimate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Notes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Cloud hosting (backend, DB, CDN)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Fixed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~US$30 / month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Render / Railway small tier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SMS, USSD &amp; voice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Variable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₦5–15 per event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Africa's Talking; online touchpoints only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Model training compute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One-off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Hackathon GPU / Colab allocations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Field onboarding (agents, SIMs, fuel)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Pilot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rPr dirty="0"/>
                        <a:t>~₦1</a:t>
                      </a:r>
                      <a:r>
                        <a:rPr lang="en-NG" dirty="0"/>
                        <a:t>5</a:t>
                      </a:r>
                      <a:r>
                        <a:rPr dirty="0"/>
                        <a:t>0–250K / month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2–3 agents across Zaria hubs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Compliance &amp; ops overhead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Fixed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Small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rPr dirty="0"/>
                        <a:t>Monitoring, API keys, admin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5285232"/>
            <a:ext cx="12191695" cy="77724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6811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  <a:latin typeface="Segoe UI"/>
              </a:defRPr>
            </a:pPr>
            <a:r>
              <a:t>Cash-flow logic: every hub subscription covers ~1,000 pickups' SMS envelope; transaction fees become incremental margin once fixed costs are covered.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Validation /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Real-world testing with numbers — and an honest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TRACTION —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53492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16824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047857"/>
                </a:solidFill>
                <a:latin typeface="Segoe UI"/>
              </a:defRPr>
            </a:pPr>
            <a:r>
              <a:t>✅  Already proven — with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39696"/>
            <a:ext cx="4892040" cy="1305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60+ automated tests green — H3 dispatch, USSD flows, sync conflicts, settlement, auth.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Demo environment with settled transactions, live hub buy-requests and impact aggregates.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Household listing flow live: scan → list at home → dispatched collector → settled payout.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1481328"/>
            <a:ext cx="5349240" cy="356616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3408" y="16824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ECFDF5"/>
                </a:solidFill>
                <a:latin typeface="Segoe UI"/>
              </a:defRPr>
            </a:pPr>
            <a:r>
              <a:t>Honest gap — and 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139696"/>
            <a:ext cx="48463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1150" b="1" i="0">
                <a:solidFill>
                  <a:srgbClr val="FFFFFF"/>
                </a:solidFill>
                <a:latin typeface="Segoe UI"/>
              </a:defRPr>
            </a:pPr>
            <a:r>
              <a:t>We have not yet field-piloted at scale.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1100" b="0" i="0">
                <a:solidFill>
                  <a:srgbClr val="CBD5E1"/>
                </a:solidFill>
                <a:latin typeface="Segoe UI"/>
              </a:defRPr>
            </a:pPr>
            <a:r>
              <a:t>Next: a 3-month Zaria pilot — 3 hubs, 500 collectors — tracking scans, settled pickups, income uplift and hazard alerts delivered.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CBD5E1"/>
                </a:solidFill>
                <a:latin typeface="Segoe UI"/>
              </a:defRPr>
            </a:pPr>
            <a:r>
              <a:t>The metrics are already instrumented in the impact dashboard — the pilot simply turns them on in the field.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230368"/>
            <a:ext cx="1609344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6093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50992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  <a:latin typeface="Segoe UI"/>
              </a:defRPr>
            </a:pPr>
            <a:r>
              <a:t>material classes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42615" y="5230368"/>
            <a:ext cx="1609344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42615" y="5303520"/>
            <a:ext cx="16093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5" y="5650992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  <a:latin typeface="Segoe UI"/>
              </a:defRPr>
            </a:pPr>
            <a:r>
              <a:t>languages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5230368"/>
            <a:ext cx="1609344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16552" y="5303520"/>
            <a:ext cx="16093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5650992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  <a:latin typeface="Segoe UI"/>
              </a:defRPr>
            </a:pPr>
            <a:r>
              <a:t>hazard types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5230368"/>
            <a:ext cx="1609344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90488" y="5303520"/>
            <a:ext cx="16093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5650992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  <a:latin typeface="Segoe UI"/>
              </a:defRPr>
            </a:pPr>
            <a:r>
              <a:t>preset hubs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64423" y="5230368"/>
            <a:ext cx="1609344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4423" y="5303520"/>
            <a:ext cx="16093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059669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4423" y="5650992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  <a:latin typeface="Segoe UI"/>
              </a:defRPr>
            </a:pPr>
            <a:r>
              <a:t>fee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38359" y="5230368"/>
            <a:ext cx="1609344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38359" y="5303520"/>
            <a:ext cx="16093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059669"/>
                </a:solidFill>
                <a:latin typeface="Segoe UI"/>
              </a:defRPr>
            </a:pPr>
            <a:r>
              <a:t>60+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5650992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  <a:latin typeface="Segoe UI"/>
              </a:defRPr>
            </a:pPr>
            <a:r>
              <a:t>tests 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Segoe UI"/>
              </a:defRPr>
            </a:pPr>
            <a:r>
              <a:t>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CBD5E1"/>
                </a:solidFill>
                <a:latin typeface="Segoe UI"/>
              </a:defRPr>
            </a:pPr>
            <a:r>
              <a:t>A credible path beyond the first market — Zaria → Kaduna → Nigeria → West Africa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SCALE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517904"/>
            <a:ext cx="1975104" cy="324612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70078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🗺️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ECFDF5"/>
                </a:solidFill>
                <a:latin typeface="Segoe UI"/>
              </a:defRPr>
            </a:pPr>
            <a:r>
              <a:t>Replicable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26080"/>
            <a:ext cx="162763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950" b="0" i="0">
                <a:solidFill>
                  <a:srgbClr val="A5B4C7"/>
                </a:solidFill>
                <a:latin typeface="Segoe UI"/>
              </a:defRPr>
            </a:pPr>
            <a:r>
              <a:t>Every city is a set of hex-coded hubs. The same PWA + USSD stack launches a new city at very low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35808" y="1517904"/>
            <a:ext cx="1975104" cy="324612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18688" y="170078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2128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ECFDF5"/>
                </a:solidFill>
                <a:latin typeface="Segoe UI"/>
              </a:defRPr>
            </a:pPr>
            <a:r>
              <a:t>Network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2926080"/>
            <a:ext cx="162763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950" b="0" i="0">
                <a:solidFill>
                  <a:srgbClr val="A5B4C7"/>
                </a:solidFill>
                <a:latin typeface="Segoe UI"/>
              </a:defRPr>
            </a:pPr>
            <a:r>
              <a:t>More collectors → denser supply → stronger hub demand → richer price data → a stronger value proposition.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2936" y="1517904"/>
            <a:ext cx="1975104" cy="324612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85816" y="170078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22128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ECFDF5"/>
                </a:solidFill>
                <a:latin typeface="Segoe UI"/>
              </a:defRPr>
            </a:pPr>
            <a:r>
              <a:t>Data moat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5816" y="2926080"/>
            <a:ext cx="162763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950" b="0" i="0">
                <a:solidFill>
                  <a:srgbClr val="A5B4C7"/>
                </a:solidFill>
                <a:latin typeface="Segoe UI"/>
              </a:defRPr>
            </a:pPr>
            <a:r>
              <a:t>A proprietary price + collection dataset grows with every city — valuable to PROs, NGOs and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70064" y="1517904"/>
            <a:ext cx="1975104" cy="324612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2944" y="170078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⚖️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2944" y="22128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ECFDF5"/>
                </a:solidFill>
                <a:latin typeface="Segoe UI"/>
              </a:defRPr>
            </a:pPr>
            <a:r>
              <a:t>Regulatory tailwind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2926080"/>
            <a:ext cx="162763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950" b="0" i="0">
                <a:solidFill>
                  <a:srgbClr val="A5B4C7"/>
                </a:solidFill>
                <a:latin typeface="Segoe UI"/>
              </a:defRPr>
            </a:pPr>
            <a:r>
              <a:t>Nigeria's EPR obligations push producers toward auditable collection — we are purpose-built for exactly that.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7192" y="1517904"/>
            <a:ext cx="1975104" cy="324612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20072" y="170078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0️⃣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22128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ECFDF5"/>
                </a:solidFill>
                <a:latin typeface="Segoe UI"/>
              </a:defRPr>
            </a:pPr>
            <a:r>
              <a:t>Near-zero marginal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72" y="2926080"/>
            <a:ext cx="162763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950" b="0" i="0">
                <a:solidFill>
                  <a:srgbClr val="A5B4C7"/>
                </a:solidFill>
                <a:latin typeface="Segoe UI"/>
              </a:defRPr>
            </a:pPr>
            <a:r>
              <a:t>Edge-first inference means each new user adds negligible cloud cost — scale does not inflate infrastructure.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138928"/>
            <a:ext cx="12191695" cy="777240"/>
          </a:xfrm>
          <a:prstGeom prst="rect">
            <a:avLst/>
          </a:prstGeom>
          <a:solidFill>
            <a:srgbClr val="1E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Offline-first isn't just for the first market — it fits the next hundred.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Team Execution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Defined roles, relevant capability, proven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TEAM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193852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481328"/>
            <a:ext cx="19385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37360"/>
            <a:ext cx="16002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0F172A"/>
                </a:solidFill>
                <a:latin typeface="Segoe UI"/>
              </a:defRPr>
            </a:pPr>
            <a:r>
              <a:rPr dirty="0"/>
              <a:t>Backend &amp; Database Lead</a:t>
            </a:r>
            <a:r>
              <a:rPr lang="en-GB" dirty="0"/>
              <a:t> Engineer and team leader.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1609344" cy="14338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</a:t>
            </a:r>
            <a:r>
              <a:rPr dirty="0" err="1"/>
              <a:t>FastAPI</a:t>
            </a:r>
            <a:r>
              <a:rPr dirty="0"/>
              <a:t>, Postgres / SQLite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Sync engine &amp; conflict resolution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Settlement &amp; H3 dispatch</a:t>
            </a:r>
            <a:endParaRPr lang="en-GB" dirty="0"/>
          </a:p>
          <a:p>
            <a:pPr>
              <a:lnSpc>
                <a:spcPct val="106000"/>
              </a:lnSpc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lang="en-GB" dirty="0"/>
              <a:t>•  Certified backend developer.</a:t>
            </a:r>
            <a:br>
              <a:rPr lang="en-GB" dirty="0"/>
            </a:br>
            <a:r>
              <a:rPr lang="en-GB" dirty="0"/>
              <a:t>•  </a:t>
            </a:r>
            <a:r>
              <a:rPr lang="en-GB" dirty="0" err="1"/>
              <a:t>Bsc</a:t>
            </a:r>
            <a:r>
              <a:rPr lang="en-GB" dirty="0"/>
              <a:t>(ed) Computer Science</a:t>
            </a:r>
          </a:p>
          <a:p>
            <a:pPr>
              <a:lnSpc>
                <a:spcPct val="106000"/>
              </a:lnSpc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2980944" y="1481328"/>
            <a:ext cx="193852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980944" y="1481328"/>
            <a:ext cx="19385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63824" y="17373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0F172A"/>
                </a:solidFill>
                <a:latin typeface="Segoe UI"/>
              </a:defRPr>
            </a:pPr>
            <a:r>
              <a:t>Frontend &amp; PWA Architect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2606040"/>
            <a:ext cx="1609344" cy="1331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React / TypeScript / Tailwind PWA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Offline storage (Dexie / </a:t>
            </a:r>
            <a:r>
              <a:rPr dirty="0" err="1"/>
              <a:t>IndexedDB</a:t>
            </a:r>
            <a:r>
              <a:rPr dirty="0"/>
              <a:t>)</a:t>
            </a:r>
          </a:p>
          <a:p>
            <a:pPr>
              <a:lnSpc>
                <a:spcPct val="106000"/>
              </a:lnSpc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UI/UX &amp; camera flows</a:t>
            </a:r>
            <a:br>
              <a:rPr lang="en-GB" dirty="0"/>
            </a:br>
            <a:r>
              <a:rPr lang="en-GB" dirty="0"/>
              <a:t>•  Certified frontend developer and Computer Science student.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5093208" y="1481328"/>
            <a:ext cx="193852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93208" y="1481328"/>
            <a:ext cx="19385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76088" y="17373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0F172A"/>
                </a:solidFill>
                <a:latin typeface="Segoe UI"/>
              </a:defRPr>
            </a:pPr>
            <a:r>
              <a:t>Edge AI &amp; On-Device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2606040"/>
            <a:ext cx="1609344" cy="866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ONNX runtime integration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Vision fallback chain</a:t>
            </a:r>
          </a:p>
          <a:p>
            <a:pPr>
              <a:lnSpc>
                <a:spcPct val="106000"/>
              </a:lnSpc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rPr dirty="0"/>
              <a:t>•  Model export &amp; verification</a:t>
            </a:r>
            <a:br>
              <a:rPr lang="en-GB" dirty="0"/>
            </a:br>
            <a:r>
              <a:rPr lang="en-GB" dirty="0"/>
              <a:t>•  </a:t>
            </a:r>
            <a:r>
              <a:rPr lang="en-GB" dirty="0" err="1"/>
              <a:t>Fullstack</a:t>
            </a:r>
            <a:r>
              <a:rPr lang="en-GB" dirty="0"/>
              <a:t> developer and Computer Science Major.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7205472" y="1481328"/>
            <a:ext cx="193852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205472" y="1481328"/>
            <a:ext cx="19385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88352" y="17373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0F172A"/>
                </a:solidFill>
                <a:latin typeface="Segoe UI"/>
              </a:defRPr>
            </a:pPr>
            <a:r>
              <a:t>Accessibility &amp; Audio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2606040"/>
            <a:ext cx="160934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•  TTS voice system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•  Hausa / Pidgin locales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•  Low-literacy 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1481328"/>
            <a:ext cx="193852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317736" y="1481328"/>
            <a:ext cx="19385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00615" y="17373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0F172A"/>
                </a:solidFill>
                <a:latin typeface="Segoe UI"/>
              </a:defRPr>
            </a:pPr>
            <a:r>
              <a:t>QA, DevOps &amp; Sync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0615" y="2606040"/>
            <a:ext cx="160934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•  60+ automated tests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•  Docker + CI/CD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defRPr sz="950" b="0" i="0">
                <a:solidFill>
                  <a:srgbClr val="64748B"/>
                </a:solidFill>
                <a:latin typeface="Segoe UI"/>
              </a:defRPr>
            </a:pPr>
            <a:r>
              <a:t>•  Deployment &amp; 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150" b="1" i="0">
                <a:solidFill>
                  <a:srgbClr val="047857"/>
                </a:solidFill>
                <a:latin typeface="Segoe UI"/>
              </a:defRPr>
            </a:pPr>
            <a:r>
              <a:t>Evidence of execution: a shipped monorepo with CI, Docker deployment, and a multi-contributor commit history across five team members.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0F172A"/>
                </a:solidFill>
                <a:latin typeface="Segoe UI"/>
              </a:defRPr>
            </a:pPr>
            <a:r>
              <a:t>Risk Awareness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64748B"/>
                </a:solidFill>
                <a:latin typeface="Segoe UI"/>
              </a:defRPr>
            </a:pPr>
            <a:r>
              <a:t>Named risks with concrete mitigation plans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RISKS —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481328"/>
          <a:ext cx="10451592" cy="3767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3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Risk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Sev.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Mitigation plan</a:t>
                      </a:r>
                    </a:p>
                  </a:txBody>
                  <a:tcPr marL="82296" marR="64008" marT="27432" marB="27432" anchor="ctr"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Field accuracy on dirty / partial scrap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Community-labelled training data; edge + server dual path; honest manual fallback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Low smartphone penetration &amp; literacy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USSD / SMS / IVR feature-phone path; voice-first UI in Hausa, Pidgin, English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Adoption &amp; trust in the informal economy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Co-design with Baban Bola; hub &amp; community endorsement; visible price proof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Scrap price volatility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Med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Admin-managed price matrix; periodic market syncs; cached offline prices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Data privacy &amp; consent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Consent-first registration (USSD); minimal data; JWT-authenticated APIs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EPR regulatory change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05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Configurable, auditable exports that adapt to rule updates</a:t>
                      </a:r>
                    </a:p>
                  </a:txBody>
                  <a:tcPr marL="82296" marR="64008" marT="27432" marB="27432" anchor="ctr">
                    <a:solidFill>
                      <a:srgbClr val="F1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0" i="1">
                <a:solidFill>
                  <a:srgbClr val="64748B"/>
                </a:solidFill>
                <a:latin typeface="Segoe UI"/>
              </a:defRPr>
            </a:pPr>
            <a:r>
              <a:t>Every risk has a named owner on the team and a test or pilot milestone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94A3B8"/>
                </a:solidFill>
                <a:latin typeface="Segoe U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92608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Segoe U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250" b="0" i="0">
                <a:solidFill>
                  <a:srgbClr val="CBD5E1"/>
                </a:solidFill>
                <a:latin typeface="Segoe UI"/>
              </a:defRPr>
            </a:pPr>
            <a:r>
              <a:t>What we need in the next 12 months to hit pilot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384048"/>
            <a:ext cx="277063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NEXT 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280160"/>
            <a:ext cx="10454335" cy="12801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481328"/>
            <a:ext cx="331012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6424" y="1664208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23113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ECFDF5"/>
                </a:solidFill>
                <a:latin typeface="Segoe UI"/>
              </a:defRPr>
            </a:pPr>
            <a:r>
              <a:t>Pilot partners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670048"/>
            <a:ext cx="28529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2–3 Zaria recycling hubs and one NGO for field onboarding — as value-exchange partners, detailed earlier.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81328"/>
            <a:ext cx="331012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18304" y="1664208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4" y="223113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ECFDF5"/>
                </a:solidFill>
                <a:latin typeface="Segoe UI"/>
              </a:defRPr>
            </a:pPr>
            <a:r>
              <a:t>Seed funding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2670048"/>
            <a:ext cx="28529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≈ ₦2–4M for a 3-month pilot: field agents, SMS volume, incentives and labelled data collection.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481328"/>
            <a:ext cx="3310128" cy="228600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9525">
            <a:solidFill>
              <a:srgbClr val="263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3" y="1664208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000" b="0" i="0">
                <a:solidFill>
                  <a:srgbClr val="0F172A"/>
                </a:solidFill>
                <a:latin typeface="Segoe UI"/>
              </a:defRPr>
            </a:pPr>
            <a:r>
              <a:t>🏛️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223113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400" b="1" i="0">
                <a:solidFill>
                  <a:srgbClr val="ECFDF5"/>
                </a:solidFill>
                <a:latin typeface="Segoe UI"/>
              </a:defRPr>
            </a:pPr>
            <a:r>
              <a:t>Access &amp; intros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670048"/>
            <a:ext cx="28529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defRPr sz="1050" b="0" i="0">
                <a:solidFill>
                  <a:srgbClr val="A5B4C7"/>
                </a:solidFill>
                <a:latin typeface="Segoe UI"/>
              </a:defRPr>
            </a:pPr>
            <a:r>
              <a:t>One PRO / EPR compliance pilot, plus telecom shortcode and zero-rating support.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133087"/>
            <a:ext cx="12191695" cy="1691640"/>
          </a:xfrm>
          <a:prstGeom prst="rect">
            <a:avLst/>
          </a:prstGeom>
          <a:solidFill>
            <a:srgbClr val="1E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1050" b="1" i="0">
                <a:solidFill>
                  <a:srgbClr val="059669"/>
                </a:solidFill>
                <a:latin typeface="Segoe UI"/>
              </a:defRPr>
            </a:pPr>
            <a:r>
              <a:t>12-MONTH TARGETS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81728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200" b="1" i="0">
                <a:solidFill>
                  <a:srgbClr val="ECFDF5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57216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collectors onboarded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681728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200" b="1" i="0">
                <a:solidFill>
                  <a:srgbClr val="ECFDF5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157216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active hubs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681728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200" b="1" i="0">
                <a:solidFill>
                  <a:srgbClr val="ECFDF5"/>
                </a:solidFill>
                <a:latin typeface="Segoe UI"/>
              </a:defRPr>
            </a:pPr>
            <a:r>
              <a:t>150 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157216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scrap diverted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681728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200" b="1" i="0">
                <a:solidFill>
                  <a:srgbClr val="ECFDF5"/>
                </a:solidFill>
                <a:latin typeface="Segoe UI"/>
              </a:defRPr>
            </a:pPr>
            <a:r>
              <a:t>+30%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157216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target income uplift*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4681728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2200" b="1" i="0">
                <a:solidFill>
                  <a:srgbClr val="ECFDF5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157216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50" b="0" i="0">
                <a:solidFill>
                  <a:srgbClr val="FFFFFF"/>
                </a:solidFill>
                <a:latin typeface="Segoe UI"/>
              </a:defRPr>
            </a:pPr>
            <a:r>
              <a:t>city replicated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54126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6B7A8F"/>
                </a:solidFill>
                <a:latin typeface="Segoe UI"/>
              </a:defRPr>
            </a:pPr>
            <a:r>
              <a:t>*Income uplift vs. pre-pilot baselines, measured via the impact dashboard; hazard-alert delivery tracked per scan.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IntelliScrap AI  ·  Pitch Deck  ·  BMC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5105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6510528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 sz="900" b="0" i="0">
                <a:solidFill>
                  <a:srgbClr val="4E5B6E"/>
                </a:solidFill>
                <a:latin typeface="Segoe UI"/>
              </a:defRPr>
            </a:pPr>
            <a:r>
              <a:t>Success = a profitable hub-city model, with the numbers to replicate anywhere.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96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6000" b="1" i="0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71800"/>
            <a:ext cx="9418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2200" b="0" i="0">
                <a:solidFill>
                  <a:srgbClr val="ECFDF5"/>
                </a:solidFill>
                <a:latin typeface="Segoe UI"/>
              </a:defRPr>
            </a:pPr>
            <a:r>
              <a:t>IntelliScrap AI — Empowering Informal Recyclers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4920" y="3749039"/>
            <a:ext cx="2039112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18320" cy="6066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defRPr sz="1600" b="0" i="0">
                <a:solidFill>
                  <a:srgbClr val="ECFDF5"/>
                </a:solidFill>
                <a:latin typeface="Segoe UI"/>
              </a:defRPr>
            </a:pPr>
            <a:r>
              <a:rPr dirty="0"/>
              <a:t>Team Nexus  ·  ABU Zaria </a:t>
            </a:r>
            <a:br>
              <a:rPr dirty="0"/>
            </a:br>
            <a:r>
              <a:rPr dirty="0"/>
              <a:t>github.com/Moses2411/</a:t>
            </a:r>
            <a:r>
              <a:rPr dirty="0" err="1"/>
              <a:t>inteliscrap</a:t>
            </a:r>
            <a:r>
              <a:rPr dirty="0"/>
              <a:t>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Let's make informal recycling safer, fairer, and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2937</Words>
  <Application>Microsoft Office PowerPoint</Application>
  <PresentationFormat>Widescreen</PresentationFormat>
  <Paragraphs>448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Moses Edache</cp:lastModifiedBy>
  <cp:revision>3</cp:revision>
  <dcterms:created xsi:type="dcterms:W3CDTF">2013-01-27T09:14:16Z</dcterms:created>
  <dcterms:modified xsi:type="dcterms:W3CDTF">2026-09-20T07:50:25Z</dcterms:modified>
  <cp:category/>
</cp:coreProperties>
</file>